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6" r:id="rId15"/>
    <p:sldId id="277" r:id="rId16"/>
    <p:sldId id="278" r:id="rId17"/>
    <p:sldId id="279" r:id="rId18"/>
    <p:sldId id="280" r:id="rId19"/>
    <p:sldId id="281" r:id="rId20"/>
    <p:sldId id="270" r:id="rId21"/>
    <p:sldId id="271" r:id="rId22"/>
    <p:sldId id="272" r:id="rId23"/>
    <p:sldId id="275" r:id="rId24"/>
    <p:sldId id="273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306D6-5EDA-41A7-A029-2097DC566606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AD3C3-6D9D-419F-9EDD-D39116A69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78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AD3C3-6D9D-419F-9EDD-D39116A69680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540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D3497-6C92-B3DC-D278-09A51CDB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1EC099F-C335-A80F-1647-61A9155CD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D9CCB2F-EC47-16BD-BEA4-7316A9C02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69DF96-3D4E-B6AC-DE66-DFC9B1201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AD3C3-6D9D-419F-9EDD-D39116A6968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782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D729-F33F-4DE9-A380-8CEE74E3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45C70D4-DDF3-E398-A663-FEC71DA23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CA6157B-BD28-8129-47C5-4B1503AE3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97452D-3CB3-671B-DFFA-C55419AE0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AD3C3-6D9D-419F-9EDD-D39116A69680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7670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53849-E4B4-7D05-83E0-B85D6DC19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770454-75AA-E843-999F-4F7241684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D6B448D-4AA8-7ED8-B6D0-A2E5FC172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149578-000D-7B40-8C92-A43535EDE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AD3C3-6D9D-419F-9EDD-D39116A69680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8012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1D2FE-4E4E-ECD7-A0B0-E82AA3DA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E442CC-B204-3BD5-32EC-33D27F458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66745E-2B56-21A9-9A30-51D3A6533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56C6D0-3637-7EC8-ED7F-8EA8918A9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AD3C3-6D9D-419F-9EDD-D39116A69680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954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30BD50-CD1B-1D86-D558-D0C76030A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584111-90D5-48ED-32FD-AFF2B5F3C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A7FB7A-59DF-9EE3-8E30-0AFE00DF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D35EA0-59B6-805E-070D-F4436BAE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018153-D6DE-C515-25DA-4565A763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140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2EEC28-AFD7-50FF-4ED1-B806699C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F45C8A-005D-8FB2-2C4E-FEB951866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6E9635-35A3-4E06-B71B-B69B9CA4A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0E8604-2CB9-9D3D-2883-CE391316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387235-3371-FB9F-28A3-445BE6E3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05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74A97-788A-B3A0-C9A8-201F31F94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908C18-09DD-E4AE-5C37-F036B267A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361CD9-167D-67D0-88AF-125265963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D559F8-9727-A0FE-4A35-67E886E1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32ACF0-B31C-9F0D-023E-77952E81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882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7CFD6-D379-257D-9F4E-541274A1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1ADC5C-5AF7-B2D1-FA5D-4F46368B9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5DB5BF-6EB5-38D9-8587-5013EE8A4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A09AFD-6B0E-3A36-A609-5539E174B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E5583FA-038D-CB96-35E9-DD40D52C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289AB2-43DF-C2F4-0877-940E95212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592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E569E-B1C3-4701-8565-DF2948EB1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9300C1-2280-C769-0E17-9691C1965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879EBB1-48E5-3A74-3A38-0F4FA0846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F46B07B-A383-61D0-84F3-AA8CA271A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4AE09FF-C36D-7D78-BD67-AE7ECBFD0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0C0320-BEC0-A64C-23D2-F8779F02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D1C601-F4C9-40C6-7541-7EDBE4C4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308504-8FC0-1430-8E41-41FCA2D1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14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C78CA6-AB7F-6D68-14C4-540176E84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1C30611-C156-226B-604C-855C3EE46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B2C2EC5-2E18-7666-E8A6-CD339F87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B065DAF-1C02-B6D4-D829-34593B44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02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AFC1701-C0A3-9AF2-E445-E2404011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CAEE98D-819D-A81C-AF82-C293491B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4A8F8E-0A2D-0145-E380-1F2C5FC5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02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B708A6-5252-5B3C-29E1-092E2F62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1D4B82-FCAE-5178-FBB3-BBA8269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FB3A37-0050-57CD-5911-8E21BED42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EAFD13-6A91-7D40-D367-DD0B14DA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AAA1B5-8AD9-7A74-C887-2D22B4BB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BAD8FF-CAB4-2ED3-7596-2CD34211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190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CE7A48-3D2B-E30B-C996-F575880EE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2FF8A5D-DECB-FE13-6B38-33E2B0CF2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21170C-8D15-A9EC-FB6C-99A315565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4A5840-D2DF-8113-573D-C1A8F86D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2B4C64-28A1-5A87-10A6-B1DF7B08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93151E-493E-8C95-2969-787F7DE2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8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F508C5-668F-AF73-BDA5-BB62A45D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0ECB2EF-8D4A-01FB-82A5-8FB70762C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764838-F606-4F63-53B5-D9A56C5F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F63119-6BD2-4C90-7B46-FB07A1F4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3C0614-98B0-82A5-E44A-E9DDFF6F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79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4F02AFB-D8B0-8752-EB18-415E79518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97F174-F10D-DA39-64C7-B882E9D89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47F7DD-37D9-5BD8-2373-D125C8F3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28DD30-BDF6-2367-117F-FA9F0EE3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90671D-2D28-02FC-D491-15C16778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732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1F5F36B-A198-03D3-757C-91538EA06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164321-E11B-99D7-2965-E5ACBA4DD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31F24C-526B-36B7-65FD-9FC188316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FE7B4-1A93-4402-A5FC-9ED28F8DBBC4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71C09C-72EC-63F4-CF12-C9ACBCAA6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9D57E3-3C0C-808C-BDB1-FB7A10E4E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83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18F21DC-BDA1-0546-E2B2-1B64EE7F1F55}"/>
              </a:ext>
            </a:extLst>
          </p:cNvPr>
          <p:cNvSpPr txBox="1"/>
          <p:nvPr/>
        </p:nvSpPr>
        <p:spPr>
          <a:xfrm>
            <a:off x="886104" y="2474893"/>
            <a:ext cx="10762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Approaches to Improve Inferences Based on </a:t>
            </a:r>
          </a:p>
          <a:p>
            <a:pPr algn="ctr"/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Data Collected with</a:t>
            </a:r>
            <a:r>
              <a:rPr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Mixed-Mode Designs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E1CA7B87-44D8-97E1-07A0-A1A223BDD865}"/>
              </a:ext>
            </a:extLst>
          </p:cNvPr>
          <p:cNvCxnSpPr/>
          <p:nvPr/>
        </p:nvCxnSpPr>
        <p:spPr>
          <a:xfrm>
            <a:off x="1247774" y="3505200"/>
            <a:ext cx="96964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59DDD51E-BB0E-9170-905D-F94F137F52B6}"/>
              </a:ext>
            </a:extLst>
          </p:cNvPr>
          <p:cNvSpPr txBox="1"/>
          <p:nvPr/>
        </p:nvSpPr>
        <p:spPr>
          <a:xfrm>
            <a:off x="3362325" y="3581401"/>
            <a:ext cx="5467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Reporter: YUNG-CHUN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LAN, YUE-CHEN WU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0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0DF3-2B3A-5D04-D92B-E7A9EF85D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35F6A47-65CA-A141-1AAB-C7ABCF5F59B7}"/>
                  </a:ext>
                </a:extLst>
              </p:cNvPr>
              <p:cNvSpPr txBox="1"/>
              <p:nvPr/>
            </p:nvSpPr>
            <p:spPr>
              <a:xfrm>
                <a:off x="1052866" y="2079566"/>
                <a:ext cx="4185044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𝑎𝑖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𝑏𝑖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sepChr m:val=","/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TW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sSub>
                                      <m:sSub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sSub>
                                      <m:sSub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  <m:sup>
                                        <m:r>
                                          <a:rPr lang="zh-TW" altLang="en-US" sz="20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35F6A47-65CA-A141-1AAB-C7ABCF5F5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66" y="2079566"/>
                <a:ext cx="4185044" cy="7838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2FF3BE2-6D12-97F2-49FF-DF94ACA7D046}"/>
                  </a:ext>
                </a:extLst>
              </p:cNvPr>
              <p:cNvSpPr txBox="1"/>
              <p:nvPr/>
            </p:nvSpPr>
            <p:spPr>
              <a:xfrm>
                <a:off x="949875" y="3043830"/>
                <a:ext cx="4391026" cy="10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𝑒𝑓𝑓𝑒𝑐𝑡</m:t>
                      </m:r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zh-TW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  <m:sup>
                                      <m:r>
                                        <a:rPr lang="zh-TW" altLang="en-US" sz="20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zh-TW" altLang="en-US" sz="20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zh-TW" altLang="en-US" sz="20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  <m:sup>
                                      <m:r>
                                        <a:rPr lang="zh-TW" altLang="en-US" sz="20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zh-TW" alt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2FF3BE2-6D12-97F2-49FF-DF94ACA7D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75" y="3043830"/>
                <a:ext cx="4391026" cy="10000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4539CB36-B671-42C0-5379-8BD6C04FBE3D}"/>
              </a:ext>
            </a:extLst>
          </p:cNvPr>
          <p:cNvSpPr txBox="1"/>
          <p:nvPr/>
        </p:nvSpPr>
        <p:spPr>
          <a:xfrm>
            <a:off x="1052866" y="1385221"/>
            <a:ext cx="39171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Design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E428C39-CB5C-9A5A-9DEF-BBAA4A67CBAB}"/>
                  </a:ext>
                </a:extLst>
              </p:cNvPr>
              <p:cNvSpPr txBox="1"/>
              <p:nvPr/>
            </p:nvSpPr>
            <p:spPr>
              <a:xfrm>
                <a:off x="1327062" y="4068274"/>
                <a:ext cx="4281486" cy="1421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latin typeface="Times New Roman" panose="02020603050405020304" pitchFamily="18" charset="0"/>
                  </a:rPr>
                  <a:t>500 samples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=250</m:t>
                    </m:r>
                  </m:oMath>
                </a14:m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TW" altLang="en-US" sz="200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zh-TW" altLang="en-US" sz="2000" i="0">
                        <a:latin typeface="Cambria Math" panose="02040503050406030204" pitchFamily="18" charset="0"/>
                      </a:rPr>
                      <m:t>=0.5, 0.75, 0.95</m:t>
                    </m:r>
                  </m:oMath>
                </a14:m>
                <a:endParaRPr lang="en-US" altLang="zh-TW" sz="20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Simulation R = 500</a:t>
                </a: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E428C39-CB5C-9A5A-9DEF-BBAA4A67C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062" y="4068274"/>
                <a:ext cx="4281486" cy="1421992"/>
              </a:xfrm>
              <a:prstGeom prst="rect">
                <a:avLst/>
              </a:prstGeom>
              <a:blipFill>
                <a:blip r:embed="rId4"/>
                <a:stretch>
                  <a:fillRect l="-1282" b="-6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DE6341F-C940-495D-7798-B3EFAC78F52D}"/>
                  </a:ext>
                </a:extLst>
              </p:cNvPr>
              <p:cNvSpPr txBox="1"/>
              <p:nvPr/>
            </p:nvSpPr>
            <p:spPr>
              <a:xfrm>
                <a:off x="5474251" y="1969996"/>
                <a:ext cx="6247211" cy="424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b="1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Testimator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=0.05 </m:t>
                    </m:r>
                  </m:oMath>
                </a14:m>
                <a:r>
                  <a:rPr lang="en-US" altLang="zh-TW" sz="20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for both the F-test and the t-test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𝛾</m:t>
                      </m:r>
                      <m:r>
                        <a:rPr lang="en-US" altLang="zh-TW" sz="2000" i="1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=0.05</m:t>
                      </m:r>
                      <m: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for</m:t>
                      </m:r>
                      <m: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constructing</m:t>
                      </m:r>
                      <m: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if</m:t>
                      </m:r>
                      <m: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the</m:t>
                      </m:r>
                      <m: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mean</m:t>
                      </m:r>
                      <m: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is</m:t>
                      </m:r>
                      <m: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0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different</m:t>
                      </m:r>
                    </m:oMath>
                  </m:oMathPara>
                </a14:m>
                <a:endParaRPr lang="en-US" altLang="zh-TW" sz="2000" dirty="0"/>
              </a:p>
              <a:p>
                <a:pPr>
                  <a:buNone/>
                </a:pPr>
                <a:endParaRPr lang="en-US" altLang="zh-TW" sz="2000" dirty="0"/>
              </a:p>
              <a:p>
                <a:pPr marL="285750" lvl="0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b="1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Bayesian &amp; Model Averaging</a:t>
                </a:r>
              </a:p>
              <a:p>
                <a:pPr lvl="0">
                  <a:spcAft>
                    <a:spcPts val="800"/>
                  </a:spcAft>
                </a:pPr>
                <a:r>
                  <a:rPr lang="en-US" altLang="zh-TW" sz="20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 parameters: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=100,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=0,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=0.01,</m:t>
                      </m:r>
                    </m:oMath>
                  </m:oMathPara>
                </a14:m>
                <a:endParaRPr lang="zh-TW" altLang="zh-TW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=0.001, 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=0.001</m:t>
                      </m:r>
                    </m:oMath>
                  </m:oMathPara>
                </a14:m>
                <a:endParaRPr lang="en-US" altLang="zh-TW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=5000</m:t>
                    </m:r>
                  </m:oMath>
                </a14:m>
                <a:r>
                  <a:rPr lang="en-US" altLang="zh-TW" sz="2000" dirty="0"/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posterior simulations for each model</a:t>
                </a:r>
                <a:endParaRPr lang="zh-TW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DE6341F-C940-495D-7798-B3EFAC78F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251" y="1969996"/>
                <a:ext cx="6247211" cy="4248984"/>
              </a:xfrm>
              <a:prstGeom prst="rect">
                <a:avLst/>
              </a:prstGeom>
              <a:blipFill>
                <a:blip r:embed="rId5"/>
                <a:stretch>
                  <a:fillRect l="-1268" t="-12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DFEB3356-6A1F-9676-C50B-FDA08D36D497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FA6294-6A15-A311-48BC-733A09DF0C02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592999-E300-D998-88C9-9C5D52A82024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15A8A9-8347-C0A7-9AEE-BF7523B246F4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7293E7-6B61-941B-EFB0-7AAD64ACE58D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6EC9416-C467-7915-FEFF-691DE5BE33B3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5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F112-9B0A-249C-F9FC-C800ECCC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7B221900-6A1C-DA6D-B651-DCB622FFB3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780125"/>
                  </p:ext>
                </p:extLst>
              </p:nvPr>
            </p:nvGraphicFramePr>
            <p:xfrm>
              <a:off x="5480325" y="2331946"/>
              <a:ext cx="5693323" cy="34206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42891">
                      <a:extLst>
                        <a:ext uri="{9D8B030D-6E8A-4147-A177-3AD203B41FA5}">
                          <a16:colId xmlns:a16="http://schemas.microsoft.com/office/drawing/2014/main" val="420684651"/>
                        </a:ext>
                      </a:extLst>
                    </a:gridCol>
                    <a:gridCol w="1405112">
                      <a:extLst>
                        <a:ext uri="{9D8B030D-6E8A-4147-A177-3AD203B41FA5}">
                          <a16:colId xmlns:a16="http://schemas.microsoft.com/office/drawing/2014/main" val="4000110443"/>
                        </a:ext>
                      </a:extLst>
                    </a:gridCol>
                    <a:gridCol w="1405112">
                      <a:extLst>
                        <a:ext uri="{9D8B030D-6E8A-4147-A177-3AD203B41FA5}">
                          <a16:colId xmlns:a16="http://schemas.microsoft.com/office/drawing/2014/main" val="1070274239"/>
                        </a:ext>
                      </a:extLst>
                    </a:gridCol>
                    <a:gridCol w="1340208">
                      <a:extLst>
                        <a:ext uri="{9D8B030D-6E8A-4147-A177-3AD203B41FA5}">
                          <a16:colId xmlns:a16="http://schemas.microsoft.com/office/drawing/2014/main" val="2167872657"/>
                        </a:ext>
                      </a:extLst>
                    </a:gridCol>
                  </a:tblGrid>
                  <a:tr h="4348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Scenarios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9522480"/>
                      </a:ext>
                    </a:extLst>
                  </a:tr>
                  <a:tr h="306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8471095"/>
                      </a:ext>
                    </a:extLst>
                  </a:tr>
                  <a:tr h="306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6860527"/>
                      </a:ext>
                    </a:extLst>
                  </a:tr>
                  <a:tr h="306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527578"/>
                      </a:ext>
                    </a:extLst>
                  </a:tr>
                  <a:tr h="306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701371"/>
                      </a:ext>
                    </a:extLst>
                  </a:tr>
                  <a:tr h="306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900289"/>
                      </a:ext>
                    </a:extLst>
                  </a:tr>
                  <a:tr h="306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147492"/>
                      </a:ext>
                    </a:extLst>
                  </a:tr>
                  <a:tr h="306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826070"/>
                      </a:ext>
                    </a:extLst>
                  </a:tr>
                  <a:tr h="306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952856"/>
                      </a:ext>
                    </a:extLst>
                  </a:tr>
                  <a:tr h="306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80369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7B221900-6A1C-DA6D-B651-DCB622FFB3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780125"/>
                  </p:ext>
                </p:extLst>
              </p:nvPr>
            </p:nvGraphicFramePr>
            <p:xfrm>
              <a:off x="5480325" y="2331946"/>
              <a:ext cx="5693323" cy="342068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42891">
                      <a:extLst>
                        <a:ext uri="{9D8B030D-6E8A-4147-A177-3AD203B41FA5}">
                          <a16:colId xmlns:a16="http://schemas.microsoft.com/office/drawing/2014/main" val="420684651"/>
                        </a:ext>
                      </a:extLst>
                    </a:gridCol>
                    <a:gridCol w="1405112">
                      <a:extLst>
                        <a:ext uri="{9D8B030D-6E8A-4147-A177-3AD203B41FA5}">
                          <a16:colId xmlns:a16="http://schemas.microsoft.com/office/drawing/2014/main" val="4000110443"/>
                        </a:ext>
                      </a:extLst>
                    </a:gridCol>
                    <a:gridCol w="1405112">
                      <a:extLst>
                        <a:ext uri="{9D8B030D-6E8A-4147-A177-3AD203B41FA5}">
                          <a16:colId xmlns:a16="http://schemas.microsoft.com/office/drawing/2014/main" val="1070274239"/>
                        </a:ext>
                      </a:extLst>
                    </a:gridCol>
                    <a:gridCol w="1340208">
                      <a:extLst>
                        <a:ext uri="{9D8B030D-6E8A-4147-A177-3AD203B41FA5}">
                          <a16:colId xmlns:a16="http://schemas.microsoft.com/office/drawing/2014/main" val="2167872657"/>
                        </a:ext>
                      </a:extLst>
                    </a:gridCol>
                  </a:tblGrid>
                  <a:tr h="4660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Scenarios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0390" t="-1299" r="-196104" b="-6610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304" t="-1299" r="-96957" b="-6610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9522480"/>
                      </a:ext>
                    </a:extLst>
                  </a:tr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8471095"/>
                      </a:ext>
                    </a:extLst>
                  </a:tr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56860527"/>
                      </a:ext>
                    </a:extLst>
                  </a:tr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4527578"/>
                      </a:ext>
                    </a:extLst>
                  </a:tr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701371"/>
                      </a:ext>
                    </a:extLst>
                  </a:tr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900289"/>
                      </a:ext>
                    </a:extLst>
                  </a:tr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0147492"/>
                      </a:ext>
                    </a:extLst>
                  </a:tr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826070"/>
                      </a:ext>
                    </a:extLst>
                  </a:tr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1952856"/>
                      </a:ext>
                    </a:extLst>
                  </a:tr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80369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0EDF2D2B-7511-8E90-C4AE-1A619A7FC79C}"/>
              </a:ext>
            </a:extLst>
          </p:cNvPr>
          <p:cNvSpPr txBox="1"/>
          <p:nvPr/>
        </p:nvSpPr>
        <p:spPr>
          <a:xfrm>
            <a:off x="1018352" y="1133380"/>
            <a:ext cx="39171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Design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FF3ED13-DBB3-656B-AF70-FEB656F51252}"/>
              </a:ext>
            </a:extLst>
          </p:cNvPr>
          <p:cNvSpPr txBox="1"/>
          <p:nvPr/>
        </p:nvSpPr>
        <p:spPr>
          <a:xfrm>
            <a:off x="1018352" y="1657038"/>
            <a:ext cx="6841331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preferred direction is known (smaller mean is preferred) </a:t>
            </a: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 preferred direction is unknown.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35B994-908D-B4A1-8DD2-2B4842A6801E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E734D5-DE62-642A-E067-45170668CE5B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8EC2AA-B7E4-A98B-3E30-B60CB3A8863C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021A71-474E-E481-ADC0-E026F581F4DA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9619DF-1B10-3C09-3ACE-8EB16F1186F1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350939-97F5-488B-4C75-8DDE07A77E6A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31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0698-30A5-E3D2-842B-279E280B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A38A1E8-4D86-EBBE-2046-4F4EFCAB08DA}"/>
                  </a:ext>
                </a:extLst>
              </p:cNvPr>
              <p:cNvSpPr txBox="1"/>
              <p:nvPr/>
            </p:nvSpPr>
            <p:spPr>
              <a:xfrm>
                <a:off x="2071200" y="1125103"/>
                <a:ext cx="9379743" cy="4817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  <a:buNone/>
                </a:pPr>
                <a:r>
                  <a:rPr lang="en-US" altLang="zh-TW" sz="2800" b="1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Comparing the methods</a:t>
                </a:r>
                <a:r>
                  <a:rPr lang="en-US" altLang="zh-TW" sz="2800" b="1" kern="100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using:</a:t>
                </a:r>
                <a:endParaRPr lang="en-US" altLang="zh-TW" sz="2800" b="1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(1) Bias: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228600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𝑏𝑖𝑎𝑠</m:t>
                      </m:r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ES" altLang="zh-TW" sz="20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acc>
                                <m:accPr>
                                  <m:chr m:val="̂"/>
                                  <m:ctrlPr>
                                    <a:rPr lang="zh-TW" alt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alt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nary>
                        </m:num>
                        <m:den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500</m:t>
                          </m:r>
                        </m:den>
                      </m:f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E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𝜃</m:t>
                      </m:r>
                    </m:oMath>
                  </m:oMathPara>
                </a14:m>
                <a:endParaRPr lang="zh-TW" altLang="zh-TW" sz="20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15000"/>
                  </a:lnSpc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(2) RMSE: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228600">
                  <a:lnSpc>
                    <a:spcPct val="11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𝑅𝑀𝑆𝐸</m:t>
                      </m:r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s-ES" altLang="zh-TW" sz="20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zh-TW" alt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zh-TW" altLang="zh-TW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zh-TW" altLang="zh-TW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" altLang="zh-TW" sz="20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新細明體" panose="02020500000000000000" pitchFamily="18" charset="-120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TW" sz="20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500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TW" altLang="zh-TW" sz="20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15000"/>
                  </a:lnSpc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(3) Coverage rate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(4) Actual interval length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(5) Expected interval length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A38A1E8-4D86-EBBE-2046-4F4EFCAB0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200" y="1125103"/>
                <a:ext cx="9379743" cy="4817344"/>
              </a:xfrm>
              <a:prstGeom prst="rect">
                <a:avLst/>
              </a:prstGeom>
              <a:blipFill>
                <a:blip r:embed="rId2"/>
                <a:stretch>
                  <a:fillRect l="-1365" t="-1392" b="-20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0A0E052D-2E61-D675-05E4-F7E04CFE6736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F0F089-2C3E-1A67-5444-52699D06DA11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C6093A-62C4-FD80-8940-6E0A10BDD8D3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D465B0-3295-91CC-3293-89E26D8138D5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A421386-23B7-0350-5857-42B3F33879A3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857F72-5F0F-5879-621A-45CD9AA595FE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81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1E43D-E5F9-8F44-5B90-62E2A3B1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B560E87-EB73-D499-CDC9-6DB9D67058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5" t="2708" r="2638" b="1388"/>
          <a:stretch>
            <a:fillRect/>
          </a:stretch>
        </p:blipFill>
        <p:spPr bwMode="auto">
          <a:xfrm>
            <a:off x="1009650" y="781526"/>
            <a:ext cx="10172700" cy="58531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AC64B2D-D797-3EC9-5B42-9E7173824680}"/>
              </a:ext>
            </a:extLst>
          </p:cNvPr>
          <p:cNvSpPr txBox="1"/>
          <p:nvPr/>
        </p:nvSpPr>
        <p:spPr>
          <a:xfrm>
            <a:off x="9322594" y="6450016"/>
            <a:ext cx="2869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mean is preferred</a:t>
            </a:r>
            <a:endParaRPr lang="zh-TW" alt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3A54E7-5E84-9BF5-2FA0-BDFEE800758F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CF2916-9C21-4C9C-7C96-C23C845EA5DB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DABD1B-6752-CC0E-A504-521AE2272C56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538E32-E88D-C683-6924-CCA984180F0D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839645-630A-E40A-8905-8107AA6C6124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BF0E97-28BE-953D-A5B2-4B6A2692A166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15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144B0-4506-A9DC-D909-A5BBB5713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2891A80A-9708-DFE3-CE96-EC5BF94B4D6F}"/>
              </a:ext>
            </a:extLst>
          </p:cNvPr>
          <p:cNvSpPr txBox="1"/>
          <p:nvPr/>
        </p:nvSpPr>
        <p:spPr>
          <a:xfrm>
            <a:off x="9322594" y="6450016"/>
            <a:ext cx="2869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mean is preferred</a:t>
            </a:r>
            <a:endParaRPr lang="zh-TW" altLang="en-US" b="1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262A6C8-1269-BA35-1D90-08858568A7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33"/>
          <a:stretch>
            <a:fillRect/>
          </a:stretch>
        </p:blipFill>
        <p:spPr>
          <a:xfrm>
            <a:off x="918674" y="819261"/>
            <a:ext cx="11035201" cy="581542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7C5799C-10EC-ABFE-79A1-5578829D4B65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2B7067-B7B1-7275-C27A-CF7555A4D09F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3B8A19-C3D7-7D36-A6E1-FA92A1AA1C4D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C5CA0F-CF1C-B4B2-C130-B6E90C3B9D8E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83FFD6-EFBF-6F92-DB67-12383CF0AA84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43C6AB-E6A9-C68C-A3DD-9287A41516B5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65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93BD-5CB4-460D-59A6-ADB87EC90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21A5D52-E09B-3654-3BF2-99580DBA5C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36347"/>
                  </p:ext>
                </p:extLst>
              </p:nvPr>
            </p:nvGraphicFramePr>
            <p:xfrm>
              <a:off x="1647827" y="1173287"/>
              <a:ext cx="8896347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18750">
                      <a:extLst>
                        <a:ext uri="{9D8B030D-6E8A-4147-A177-3AD203B41FA5}">
                          <a16:colId xmlns:a16="http://schemas.microsoft.com/office/drawing/2014/main" val="1699857966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4256511963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17765489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967503088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3294238852"/>
                        </a:ext>
                      </a:extLst>
                    </a:gridCol>
                    <a:gridCol w="1332673">
                      <a:extLst>
                        <a:ext uri="{9D8B030D-6E8A-4147-A177-3AD203B41FA5}">
                          <a16:colId xmlns:a16="http://schemas.microsoft.com/office/drawing/2014/main" val="3759250322"/>
                        </a:ext>
                      </a:extLst>
                    </a:gridCol>
                  </a:tblGrid>
                  <a:tr h="29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879974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4545731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6948112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0.764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0.236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1592640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0.874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548736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609711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994493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937885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0.034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0.966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094745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9142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B21A5D52-E09B-3654-3BF2-99580DBA5C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36347"/>
                  </p:ext>
                </p:extLst>
              </p:nvPr>
            </p:nvGraphicFramePr>
            <p:xfrm>
              <a:off x="1647827" y="1173287"/>
              <a:ext cx="8896347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18750">
                      <a:extLst>
                        <a:ext uri="{9D8B030D-6E8A-4147-A177-3AD203B41FA5}">
                          <a16:colId xmlns:a16="http://schemas.microsoft.com/office/drawing/2014/main" val="1699857966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4256511963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17765489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967503088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3294238852"/>
                        </a:ext>
                      </a:extLst>
                    </a:gridCol>
                    <a:gridCol w="1332673">
                      <a:extLst>
                        <a:ext uri="{9D8B030D-6E8A-4147-A177-3AD203B41FA5}">
                          <a16:colId xmlns:a16="http://schemas.microsoft.com/office/drawing/2014/main" val="3759250322"/>
                        </a:ext>
                      </a:extLst>
                    </a:gridCol>
                  </a:tblGrid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879974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84211" r="-301648" b="-8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454573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181818" r="-301648" b="-7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6948112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281818" r="-301648" b="-6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0.764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0.236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159264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386842" r="-301648" b="-5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0.874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548736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480519" r="-301648" b="-4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60971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588158" r="-301648" b="-319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994493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679221" r="-301648" b="-2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93788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789474" r="-301648" b="-1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0.034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0.966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09474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877922" r="-301648" b="-16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9142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2">
            <a:extLst>
              <a:ext uri="{FF2B5EF4-FFF2-40B4-BE49-F238E27FC236}">
                <a16:creationId xmlns:a16="http://schemas.microsoft.com/office/drawing/2014/main" id="{F2BE47F0-8159-4D0C-9115-6547632EB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5779788"/>
            <a:ext cx="8191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Probability of the Model Being Selected in the </a:t>
            </a:r>
            <a:r>
              <a:rPr kumimoji="0" lang="en-US" altLang="zh-TW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Testimator</a:t>
            </a: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Approach (</a:t>
            </a:r>
            <a:r>
              <a:rPr kumimoji="0" lang="en-US" altLang="zh-TW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ρ=0.95,n=500</a:t>
            </a: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3095C43-0267-C79F-DA92-D1FF01CF6D27}"/>
              </a:ext>
            </a:extLst>
          </p:cNvPr>
          <p:cNvSpPr/>
          <p:nvPr/>
        </p:nvSpPr>
        <p:spPr>
          <a:xfrm>
            <a:off x="1495425" y="2286000"/>
            <a:ext cx="9229725" cy="124777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2FE029A-1234-9B6A-3924-E3D4C4D0407E}"/>
              </a:ext>
            </a:extLst>
          </p:cNvPr>
          <p:cNvSpPr txBox="1"/>
          <p:nvPr/>
        </p:nvSpPr>
        <p:spPr>
          <a:xfrm>
            <a:off x="9322594" y="6450016"/>
            <a:ext cx="2869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mean is preferred</a:t>
            </a:r>
            <a:endParaRPr lang="zh-TW" altLang="en-US" b="1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9B3BD6E-73BB-9138-E3A8-7383AF342207}"/>
              </a:ext>
            </a:extLst>
          </p:cNvPr>
          <p:cNvSpPr/>
          <p:nvPr/>
        </p:nvSpPr>
        <p:spPr>
          <a:xfrm>
            <a:off x="6577500" y="2428875"/>
            <a:ext cx="1257300" cy="477842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E040CF97-5180-69FC-EAAB-D711320FB04A}"/>
              </a:ext>
            </a:extLst>
          </p:cNvPr>
          <p:cNvSpPr/>
          <p:nvPr/>
        </p:nvSpPr>
        <p:spPr>
          <a:xfrm>
            <a:off x="9239248" y="2906717"/>
            <a:ext cx="1257300" cy="477842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FD9CAC-8454-F25E-49E1-65612388991D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CBE2FA-10E1-01F7-4188-4D55256CBCBC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2421C3-7F4E-C0E1-735F-F152C4FF0E21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93F14F-230D-CF2F-BBF7-07C3838A40C2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51E209-BEC1-E51E-DCE4-097E8BEA5D89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8AF315-7ABB-2E93-C6D2-AAA40EDDF59B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3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4E5F7-9101-B79D-074D-588C0717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AD57540-78D5-2B84-156D-961968491D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27020"/>
                  </p:ext>
                </p:extLst>
              </p:nvPr>
            </p:nvGraphicFramePr>
            <p:xfrm>
              <a:off x="1647827" y="1173287"/>
              <a:ext cx="8896347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18750">
                      <a:extLst>
                        <a:ext uri="{9D8B030D-6E8A-4147-A177-3AD203B41FA5}">
                          <a16:colId xmlns:a16="http://schemas.microsoft.com/office/drawing/2014/main" val="1699857966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4256511963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17765489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967503088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3294238852"/>
                        </a:ext>
                      </a:extLst>
                    </a:gridCol>
                    <a:gridCol w="1332673">
                      <a:extLst>
                        <a:ext uri="{9D8B030D-6E8A-4147-A177-3AD203B41FA5}">
                          <a16:colId xmlns:a16="http://schemas.microsoft.com/office/drawing/2014/main" val="3759250322"/>
                        </a:ext>
                      </a:extLst>
                    </a:gridCol>
                  </a:tblGrid>
                  <a:tr h="29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879974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4545731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0.018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6948112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0.345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1592640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0.595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0.404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548736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0.830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0.081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609711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0.989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994493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0.098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937885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094745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0.896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0.104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9142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DAD57540-78D5-2B84-156D-961968491D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27020"/>
                  </p:ext>
                </p:extLst>
              </p:nvPr>
            </p:nvGraphicFramePr>
            <p:xfrm>
              <a:off x="1647827" y="1173287"/>
              <a:ext cx="8896347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18750">
                      <a:extLst>
                        <a:ext uri="{9D8B030D-6E8A-4147-A177-3AD203B41FA5}">
                          <a16:colId xmlns:a16="http://schemas.microsoft.com/office/drawing/2014/main" val="1699857966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4256511963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17765489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967503088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3294238852"/>
                        </a:ext>
                      </a:extLst>
                    </a:gridCol>
                    <a:gridCol w="1332673">
                      <a:extLst>
                        <a:ext uri="{9D8B030D-6E8A-4147-A177-3AD203B41FA5}">
                          <a16:colId xmlns:a16="http://schemas.microsoft.com/office/drawing/2014/main" val="3759250322"/>
                        </a:ext>
                      </a:extLst>
                    </a:gridCol>
                  </a:tblGrid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879974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84211" r="-301648" b="-8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454573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181818" r="-301648" b="-7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0.018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6948112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281818" r="-301648" b="-6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0.345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159264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386842" r="-301648" b="-5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0.595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0.404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548736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480519" r="-301648" b="-4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0.830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0.081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60971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588158" r="-301648" b="-319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0.989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994493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679221" r="-301648" b="-2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0.098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93788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789474" r="-301648" b="-1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09474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877922" r="-301648" b="-16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0.896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0.104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9142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C48B6BA2-6975-23D1-9562-059EEA257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0250" y="5779788"/>
                <a:ext cx="81915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weight in the Model Averaging approach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=0.95,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lang="en-US" altLang="zh-TW" dirty="0"/>
                  <a:t>)</a:t>
                </a:r>
                <a:endParaRPr kumimoji="0" lang="en-US" altLang="zh-TW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C48B6BA2-6975-23D1-9562-059EEA257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0250" y="5779788"/>
                <a:ext cx="8191500" cy="369332"/>
              </a:xfrm>
              <a:prstGeom prst="rect">
                <a:avLst/>
              </a:prstGeom>
              <a:blipFill>
                <a:blip r:embed="rId3"/>
                <a:stretch>
                  <a:fillRect t="-9836" b="-245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: 圓角 1">
            <a:extLst>
              <a:ext uri="{FF2B5EF4-FFF2-40B4-BE49-F238E27FC236}">
                <a16:creationId xmlns:a16="http://schemas.microsoft.com/office/drawing/2014/main" id="{32B44F03-7750-5671-839F-A0A694CE054B}"/>
              </a:ext>
            </a:extLst>
          </p:cNvPr>
          <p:cNvSpPr/>
          <p:nvPr/>
        </p:nvSpPr>
        <p:spPr>
          <a:xfrm>
            <a:off x="1495425" y="2286000"/>
            <a:ext cx="9229725" cy="166687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1FDAA90-E000-CACB-4D82-75105D52976E}"/>
              </a:ext>
            </a:extLst>
          </p:cNvPr>
          <p:cNvSpPr txBox="1"/>
          <p:nvPr/>
        </p:nvSpPr>
        <p:spPr>
          <a:xfrm>
            <a:off x="9322594" y="6450016"/>
            <a:ext cx="2869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mean is preferred</a:t>
            </a:r>
            <a:endParaRPr lang="zh-TW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55AC8D-AF2D-78D5-EE02-56420737F18B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46304E-B817-46CB-A2F7-808FFB958AA6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23F398-AD8E-39B0-1C6D-8FE8B864FC0B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8F15F9-4D3C-3424-741F-F79D0417BF43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C0912D-AAFE-0830-E2C1-CA20508527DF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12FF2E-2107-CA2F-1847-749EEA8FBB57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635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05130-96B3-7C66-0403-AA148BB6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EF8DC92-9042-BF08-BF15-A11642B3D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321" y="504860"/>
            <a:ext cx="9175353" cy="585938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CB87D42-B565-2081-62F4-8A777BC341CA}"/>
              </a:ext>
            </a:extLst>
          </p:cNvPr>
          <p:cNvSpPr txBox="1"/>
          <p:nvPr/>
        </p:nvSpPr>
        <p:spPr>
          <a:xfrm>
            <a:off x="7962900" y="6450016"/>
            <a:ext cx="4229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information about preferred direction</a:t>
            </a:r>
            <a:endParaRPr lang="zh-TW" alt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9D15D5-B276-7A9F-2683-139BD96E34F0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86D9F5-D25E-3E72-E610-DDE3C7B066DE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1EEB48-F1E8-550C-E28C-F8AF86622FA8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CE01D8-09B7-D465-5D5C-D1C45E49DC58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8472AA-588E-CFC4-B878-03A48F2E782B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A0CE33-B762-8067-91AE-22A70BEF10B8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087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7F6DC-4C96-1475-CAA5-13192EB9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48D7597A-30C1-BD36-5D80-E455BC901677}"/>
              </a:ext>
            </a:extLst>
          </p:cNvPr>
          <p:cNvSpPr txBox="1"/>
          <p:nvPr/>
        </p:nvSpPr>
        <p:spPr>
          <a:xfrm>
            <a:off x="7962900" y="6450016"/>
            <a:ext cx="4229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information about preferred direction</a:t>
            </a:r>
            <a:endParaRPr lang="zh-TW" altLang="en-US" b="1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2F7D44C-76BC-AF13-8F17-BC82EE0135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219"/>
          <a:stretch>
            <a:fillRect/>
          </a:stretch>
        </p:blipFill>
        <p:spPr>
          <a:xfrm>
            <a:off x="973451" y="701040"/>
            <a:ext cx="11218549" cy="574897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C4F7E3F-03D0-6604-105C-003482D9DE5E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802498-5573-EBCC-A5EA-00D028E04FB9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D8A590-D5D9-F49D-3563-324FB9D0D165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DB684F-922F-8E8C-562F-C0D8C091DB02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6E4250-EA11-7EC0-75BF-C452BC497340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40B15F-61BD-292F-29F4-0FC2A85E6FFC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1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77AD8-85B2-4A11-98CD-0F2B81D0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1159DE04-FBFD-088C-7CAB-A38EAF6E3D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6655693"/>
                  </p:ext>
                </p:extLst>
              </p:nvPr>
            </p:nvGraphicFramePr>
            <p:xfrm>
              <a:off x="1647827" y="1173287"/>
              <a:ext cx="8896347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18750">
                      <a:extLst>
                        <a:ext uri="{9D8B030D-6E8A-4147-A177-3AD203B41FA5}">
                          <a16:colId xmlns:a16="http://schemas.microsoft.com/office/drawing/2014/main" val="1699857966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4256511963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17765489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967503088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3294238852"/>
                        </a:ext>
                      </a:extLst>
                    </a:gridCol>
                    <a:gridCol w="1332673">
                      <a:extLst>
                        <a:ext uri="{9D8B030D-6E8A-4147-A177-3AD203B41FA5}">
                          <a16:colId xmlns:a16="http://schemas.microsoft.com/office/drawing/2014/main" val="3759250322"/>
                        </a:ext>
                      </a:extLst>
                    </a:gridCol>
                  </a:tblGrid>
                  <a:tr h="29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879974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0.036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4545731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0.960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6948112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1592640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548736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609711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0.938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994493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937885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094745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9142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1159DE04-FBFD-088C-7CAB-A38EAF6E3D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6655693"/>
                  </p:ext>
                </p:extLst>
              </p:nvPr>
            </p:nvGraphicFramePr>
            <p:xfrm>
              <a:off x="1647827" y="1173287"/>
              <a:ext cx="8896347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18750">
                      <a:extLst>
                        <a:ext uri="{9D8B030D-6E8A-4147-A177-3AD203B41FA5}">
                          <a16:colId xmlns:a16="http://schemas.microsoft.com/office/drawing/2014/main" val="1699857966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4256511963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17765489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967503088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3294238852"/>
                        </a:ext>
                      </a:extLst>
                    </a:gridCol>
                    <a:gridCol w="1332673">
                      <a:extLst>
                        <a:ext uri="{9D8B030D-6E8A-4147-A177-3AD203B41FA5}">
                          <a16:colId xmlns:a16="http://schemas.microsoft.com/office/drawing/2014/main" val="3759250322"/>
                        </a:ext>
                      </a:extLst>
                    </a:gridCol>
                  </a:tblGrid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879974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84211" r="-301648" b="-822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0.036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454573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181818" r="-301648" b="-711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0.960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6948112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281818" r="-301648" b="-611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159264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386842" r="-301648" b="-519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548736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480519" r="-301648" b="-4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60971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588158" r="-301648" b="-3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0.062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0.938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994493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679221" r="-301648" b="-2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93788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789474" r="-301648" b="-117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09474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877922" r="-301648" b="-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9142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矩形: 圓角 6">
            <a:extLst>
              <a:ext uri="{FF2B5EF4-FFF2-40B4-BE49-F238E27FC236}">
                <a16:creationId xmlns:a16="http://schemas.microsoft.com/office/drawing/2014/main" id="{3AB82EB5-5D81-3290-710F-AE9169CBC46E}"/>
              </a:ext>
            </a:extLst>
          </p:cNvPr>
          <p:cNvSpPr/>
          <p:nvPr/>
        </p:nvSpPr>
        <p:spPr>
          <a:xfrm>
            <a:off x="9039226" y="1478849"/>
            <a:ext cx="1661438" cy="5143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E0F9018-172B-A87A-ECAE-646D9FF86789}"/>
              </a:ext>
            </a:extLst>
          </p:cNvPr>
          <p:cNvSpPr/>
          <p:nvPr/>
        </p:nvSpPr>
        <p:spPr>
          <a:xfrm>
            <a:off x="7734393" y="2914650"/>
            <a:ext cx="1661438" cy="5143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7AF37B3-1D91-F39F-4744-33410F5928E6}"/>
              </a:ext>
            </a:extLst>
          </p:cNvPr>
          <p:cNvSpPr/>
          <p:nvPr/>
        </p:nvSpPr>
        <p:spPr>
          <a:xfrm>
            <a:off x="7734393" y="3767074"/>
            <a:ext cx="1661438" cy="5143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963E676-7D1C-5DF3-6221-72381E380079}"/>
              </a:ext>
            </a:extLst>
          </p:cNvPr>
          <p:cNvSpPr/>
          <p:nvPr/>
        </p:nvSpPr>
        <p:spPr>
          <a:xfrm>
            <a:off x="7734393" y="4731449"/>
            <a:ext cx="1661438" cy="5143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CB49E0E-3ED4-79A0-E2B1-96868BACF0E2}"/>
              </a:ext>
            </a:extLst>
          </p:cNvPr>
          <p:cNvSpPr/>
          <p:nvPr/>
        </p:nvSpPr>
        <p:spPr>
          <a:xfrm>
            <a:off x="6345000" y="1958625"/>
            <a:ext cx="1661438" cy="51435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BB79D2B-F97D-F9C6-5A2B-C451D78BA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5779788"/>
            <a:ext cx="8191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Probability of the Model Being Selected in the </a:t>
            </a:r>
            <a:r>
              <a:rPr kumimoji="0" lang="en-US" altLang="zh-TW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Testimator</a:t>
            </a: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Approach (</a:t>
            </a:r>
            <a:r>
              <a:rPr kumimoji="0" lang="en-US" altLang="zh-TW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ρ=0.95,n=5000</a:t>
            </a: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DFD3B41-D490-F5EF-ABB1-97E74C261B57}"/>
              </a:ext>
            </a:extLst>
          </p:cNvPr>
          <p:cNvSpPr txBox="1"/>
          <p:nvPr/>
        </p:nvSpPr>
        <p:spPr>
          <a:xfrm>
            <a:off x="7077076" y="6450011"/>
            <a:ext cx="5029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sample size to 5000 (prefer smaller mean)</a:t>
            </a:r>
            <a:endParaRPr lang="zh-TW" altLang="en-US" b="1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FE4E41E-63AF-0BEE-913D-3503C460166C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89ED33-0CC6-A7FB-0E1F-A196137BC770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5D2964-01EC-73D2-5E0A-A9DCF00A0F4C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BF8F55-90A2-87CA-AC02-F6995B7B3AD5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D7C3A6-41CD-2CCC-BE51-9A1F77C43989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9AF9FF-C020-D1D6-41AE-3F624D5FB956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496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05BE-8940-C4A7-3F29-437FB24F0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CB5236D2-83FB-7316-C605-6B14F7FFA611}"/>
              </a:ext>
            </a:extLst>
          </p:cNvPr>
          <p:cNvSpPr txBox="1"/>
          <p:nvPr/>
        </p:nvSpPr>
        <p:spPr>
          <a:xfrm>
            <a:off x="7077076" y="6450011"/>
            <a:ext cx="5029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sample size to 5000 (prefer smaller mean)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09A61374-8F62-CD22-D63A-C3E98E63D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9889803"/>
                  </p:ext>
                </p:extLst>
              </p:nvPr>
            </p:nvGraphicFramePr>
            <p:xfrm>
              <a:off x="1647827" y="1173287"/>
              <a:ext cx="8896347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18750">
                      <a:extLst>
                        <a:ext uri="{9D8B030D-6E8A-4147-A177-3AD203B41FA5}">
                          <a16:colId xmlns:a16="http://schemas.microsoft.com/office/drawing/2014/main" val="1699857966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4256511963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17765489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967503088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3294238852"/>
                        </a:ext>
                      </a:extLst>
                    </a:gridCol>
                    <a:gridCol w="1332673">
                      <a:extLst>
                        <a:ext uri="{9D8B030D-6E8A-4147-A177-3AD203B41FA5}">
                          <a16:colId xmlns:a16="http://schemas.microsoft.com/office/drawing/2014/main" val="3759250322"/>
                        </a:ext>
                      </a:extLst>
                    </a:gridCol>
                  </a:tblGrid>
                  <a:tr h="2984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879974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4545731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6948112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1592640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548736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609711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994493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937885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094745"/>
                      </a:ext>
                    </a:extLst>
                  </a:tr>
                  <a:tr h="423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9142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09A61374-8F62-CD22-D63A-C3E98E63D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9889803"/>
                  </p:ext>
                </p:extLst>
              </p:nvPr>
            </p:nvGraphicFramePr>
            <p:xfrm>
              <a:off x="1647827" y="1173287"/>
              <a:ext cx="8896347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18750">
                      <a:extLst>
                        <a:ext uri="{9D8B030D-6E8A-4147-A177-3AD203B41FA5}">
                          <a16:colId xmlns:a16="http://schemas.microsoft.com/office/drawing/2014/main" val="1699857966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4256511963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17765489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967503088"/>
                        </a:ext>
                      </a:extLst>
                    </a:gridCol>
                    <a:gridCol w="1336231">
                      <a:extLst>
                        <a:ext uri="{9D8B030D-6E8A-4147-A177-3AD203B41FA5}">
                          <a16:colId xmlns:a16="http://schemas.microsoft.com/office/drawing/2014/main" val="3294238852"/>
                        </a:ext>
                      </a:extLst>
                    </a:gridCol>
                    <a:gridCol w="1332673">
                      <a:extLst>
                        <a:ext uri="{9D8B030D-6E8A-4147-A177-3AD203B41FA5}">
                          <a16:colId xmlns:a16="http://schemas.microsoft.com/office/drawing/2014/main" val="3759250322"/>
                        </a:ext>
                      </a:extLst>
                    </a:gridCol>
                  </a:tblGrid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2879974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84211" r="-301648" b="-822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454573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181818" r="-301648" b="-711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6948112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281818" r="-301648" b="-611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159264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386842" r="-301648" b="-519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548736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480519" r="-301648" b="-4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60971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588158" r="-301648" b="-3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7994493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679221" r="-301648" b="-2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93788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789474" r="-301648" b="-117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09474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877922" r="-301648" b="-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79142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2DCAB5F-69C4-7FB0-FC17-AF78D470A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0250" y="5779788"/>
                <a:ext cx="81915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weight in the Model Averaging approach 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=0.95,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=5000</m:t>
                    </m:r>
                  </m:oMath>
                </a14:m>
                <a:r>
                  <a:rPr lang="en-US" altLang="zh-TW" dirty="0"/>
                  <a:t>)</a:t>
                </a:r>
                <a:endParaRPr kumimoji="0" lang="en-US" altLang="zh-TW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2DCAB5F-69C4-7FB0-FC17-AF78D470A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0250" y="5779788"/>
                <a:ext cx="8191500" cy="369332"/>
              </a:xfrm>
              <a:prstGeom prst="rect">
                <a:avLst/>
              </a:prstGeom>
              <a:blipFill>
                <a:blip r:embed="rId3"/>
                <a:stretch>
                  <a:fillRect t="-9836" b="-245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CF5130CE-6122-CE7E-9B56-BA3000525B62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FFD887-B73E-D7D4-822A-9F6973A660B9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6AEA5D-8C99-BEB5-8571-C30E953DEA4E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0A33A6-3F7A-503E-854D-86B5A5A998E0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BD713FA-7709-F084-92E5-22B809F0AA38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FD52291-5244-767E-9A43-802940ECF2E0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502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DF3DC-1F59-E4F2-2866-5B75AF60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95CE13FB-EA0D-9FCA-105D-5C310805535F}"/>
              </a:ext>
            </a:extLst>
          </p:cNvPr>
          <p:cNvSpPr txBox="1"/>
          <p:nvPr/>
        </p:nvSpPr>
        <p:spPr>
          <a:xfrm>
            <a:off x="7077076" y="6450011"/>
            <a:ext cx="5029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sample size to 5000 (prefer smaller mean)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23B8E296-03FB-AD8C-B8C7-B1285A77C8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5816691"/>
                  </p:ext>
                </p:extLst>
              </p:nvPr>
            </p:nvGraphicFramePr>
            <p:xfrm>
              <a:off x="1592810" y="1883283"/>
              <a:ext cx="9006378" cy="310254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01063">
                      <a:extLst>
                        <a:ext uri="{9D8B030D-6E8A-4147-A177-3AD203B41FA5}">
                          <a16:colId xmlns:a16="http://schemas.microsoft.com/office/drawing/2014/main" val="978673970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1241633274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65774835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2733980259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3301555146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116085796"/>
                        </a:ext>
                      </a:extLst>
                    </a:gridCol>
                  </a:tblGrid>
                  <a:tr h="33021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Method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Bias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RMSE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Coverage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Expected Len.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Actual Len.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97517"/>
                      </a:ext>
                    </a:extLst>
                  </a:tr>
                  <a:tr h="407262">
                    <a:tc gridSpan="6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 3: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s-ES" sz="20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=0.3,</m:t>
                              </m:r>
                              <m:sSubSup>
                                <m:sSubSupPr>
                                  <m:ctrlPr>
                                    <a:rPr 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es-E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ES" sz="20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=2</m:t>
                              </m:r>
                            </m:oMath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328143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0.081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865525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B50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4694143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B75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9565928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B90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532876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B95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596359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MA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4669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23B8E296-03FB-AD8C-B8C7-B1285A77C8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5816691"/>
                  </p:ext>
                </p:extLst>
              </p:nvPr>
            </p:nvGraphicFramePr>
            <p:xfrm>
              <a:off x="1592810" y="1883283"/>
              <a:ext cx="9006378" cy="310254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01063">
                      <a:extLst>
                        <a:ext uri="{9D8B030D-6E8A-4147-A177-3AD203B41FA5}">
                          <a16:colId xmlns:a16="http://schemas.microsoft.com/office/drawing/2014/main" val="978673970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1241633274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65774835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2733980259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3301555146"/>
                        </a:ext>
                      </a:extLst>
                    </a:gridCol>
                    <a:gridCol w="1501063">
                      <a:extLst>
                        <a:ext uri="{9D8B030D-6E8A-4147-A177-3AD203B41FA5}">
                          <a16:colId xmlns:a16="http://schemas.microsoft.com/office/drawing/2014/main" val="116085796"/>
                        </a:ext>
                      </a:extLst>
                    </a:gridCol>
                  </a:tblGrid>
                  <a:tr h="33021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Method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Bias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RMSE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Coverage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Expected Len.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Actual Len.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897517"/>
                      </a:ext>
                    </a:extLst>
                  </a:tr>
                  <a:tr h="407262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8" t="-89552" r="-135" b="-60895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328143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0.081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9865525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B50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4694143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B75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9565928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B90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9532876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B95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0.958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0596359"/>
                      </a:ext>
                    </a:extLst>
                  </a:tr>
                  <a:tr h="39417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MA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-0.001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0.078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64669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33237C8-4391-7BA0-77E2-1619060EBF16}"/>
                  </a:ext>
                </a:extLst>
              </p:cNvPr>
              <p:cNvSpPr txBox="1"/>
              <p:nvPr/>
            </p:nvSpPr>
            <p:spPr>
              <a:xfrm>
                <a:off x="1703783" y="5057773"/>
                <a:ext cx="87844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18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Performance in normal outcomes when smaller estimates are preferred (</a:t>
                </a:r>
                <a14:m>
                  <m:oMath xmlns:m="http://schemas.openxmlformats.org/officeDocument/2006/math">
                    <m:r>
                      <a:rPr lang="en-US" altLang="zh-TW" sz="18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zh-TW" sz="18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=0.95,</m:t>
                    </m:r>
                    <m:r>
                      <a:rPr lang="en-US" altLang="zh-TW" sz="18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18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=5000</m:t>
                    </m:r>
                  </m:oMath>
                </a14:m>
                <a:r>
                  <a:rPr lang="en-US" altLang="zh-TW" sz="18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33237C8-4391-7BA0-77E2-1619060EB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783" y="5057773"/>
                <a:ext cx="8784431" cy="369332"/>
              </a:xfrm>
              <a:prstGeom prst="rect">
                <a:avLst/>
              </a:prstGeom>
              <a:blipFill>
                <a:blip r:embed="rId3"/>
                <a:stretch>
                  <a:fillRect l="-555" t="-11667" r="-139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7E7DF17-3F28-DA1B-7CBF-14D76F2EE24A}"/>
              </a:ext>
            </a:extLst>
          </p:cNvPr>
          <p:cNvSpPr/>
          <p:nvPr/>
        </p:nvSpPr>
        <p:spPr>
          <a:xfrm>
            <a:off x="1449149" y="2914649"/>
            <a:ext cx="9266475" cy="174307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79E6F4-AA74-6BCB-71C6-62D65902161E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478963-7ABD-329F-45EA-772C530A9AB3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195AC1-C2FC-0C42-57F4-C1B5CC69DE55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FAF700-0FD2-73F4-E8FB-5B03A6935616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1440C1-8499-DBC0-C5CD-528DA34E9855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6DAF3E-ECA7-07C2-033D-663A5828351F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86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C9926-6037-AD17-15C0-4687A53F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2FF5754-4AF8-AD36-498E-DA08F481FAF1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F95212-83ED-9808-3A10-9B5C8BE1B441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9B7B8F-5BD8-3F91-6E02-A9ABAF946C98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B48EF5-72E9-090E-A56A-EC9B972D76B9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827F2C-E7A5-95F0-7322-1BFD41556367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AD822A-9648-AB3A-CBB9-1E6D37D06B7D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B9EEDB8-E8A4-FF0A-2B8A-EEE4A604F9E4}"/>
              </a:ext>
            </a:extLst>
          </p:cNvPr>
          <p:cNvSpPr txBox="1"/>
          <p:nvPr/>
        </p:nvSpPr>
        <p:spPr>
          <a:xfrm>
            <a:off x="1053714" y="1667946"/>
            <a:ext cx="6110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Replication: Data generation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4D5928C-4E3D-2FF1-00B6-E969F85A8A11}"/>
                  </a:ext>
                </a:extLst>
              </p:cNvPr>
              <p:cNvSpPr txBox="1"/>
              <p:nvPr/>
            </p:nvSpPr>
            <p:spPr>
              <a:xfrm>
                <a:off x="1053714" y="2282307"/>
                <a:ext cx="10517981" cy="3171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original paper does not explicitly specify the data-generating process.</a:t>
                </a:r>
                <a:endParaRPr lang="en-US" altLang="zh-TW" sz="2000" dirty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W</a:t>
                </a:r>
                <a:r>
                  <a:rPr lang="en-US" altLang="zh-TW" sz="20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e generate two correlated samples of size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0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=250</m:t>
                    </m:r>
                  </m:oMath>
                </a14:m>
                <a:r>
                  <a:rPr lang="en-US" altLang="zh-TW" sz="20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 from the following bivariate normal distribution: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𝑎𝑖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𝑏𝑖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sSub>
                                  <m:sSubPr>
                                    <m:ctrlPr>
                                      <a:rPr lang="zh-TW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sSub>
                                  <m:sSubPr>
                                    <m:ctrlPr>
                                      <a:rPr lang="zh-TW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zh-TW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zh-TW" altLang="zh-TW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𝑎𝑖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first dataset is used as the simulated data for Mode A</a:t>
                </a:r>
                <a:endParaRPr lang="zh-TW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𝑏𝑖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second dataset is used as the simulated data for Mode B</a:t>
                </a:r>
                <a:endParaRPr lang="zh-TW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84D5928C-4E3D-2FF1-00B6-E969F85A8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714" y="2282307"/>
                <a:ext cx="10517981" cy="3171381"/>
              </a:xfrm>
              <a:prstGeom prst="rect">
                <a:avLst/>
              </a:prstGeom>
              <a:blipFill>
                <a:blip r:embed="rId2"/>
                <a:stretch>
                  <a:fillRect l="-638" r="-1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1B7167D-AD6A-8C06-D8E7-D9CCB057EEC7}"/>
                  </a:ext>
                </a:extLst>
              </p:cNvPr>
              <p:cNvSpPr txBox="1"/>
              <p:nvPr/>
            </p:nvSpPr>
            <p:spPr>
              <a:xfrm>
                <a:off x="2253723" y="5253633"/>
                <a:ext cx="81179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b="1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TW" sz="2000" b="1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b="1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𝟓𝟎𝟎</m:t>
                    </m:r>
                  </m:oMath>
                </a14:m>
                <a:r>
                  <a:rPr lang="en-US" altLang="zh-TW" sz="2000" b="1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000" b="1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𝝆</m:t>
                    </m:r>
                    <m:r>
                      <a:rPr lang="en-US" altLang="zh-TW" sz="2000" b="1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000" b="1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TW" sz="2000" b="1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000" b="1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𝟗𝟓</m:t>
                    </m:r>
                  </m:oMath>
                </a14:m>
                <a:r>
                  <a:rPr lang="en-US" altLang="zh-TW" sz="2000" b="1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, and the case where a smaller mean is preferred</a:t>
                </a:r>
                <a:endParaRPr lang="zh-TW" altLang="en-US" sz="2000" b="1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1B7167D-AD6A-8C06-D8E7-D9CCB057E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723" y="5253633"/>
                <a:ext cx="8117962" cy="400110"/>
              </a:xfrm>
              <a:prstGeom prst="rect">
                <a:avLst/>
              </a:prstGeom>
              <a:blipFill>
                <a:blip r:embed="rId3"/>
                <a:stretch>
                  <a:fillRect t="-10769" b="-261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647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88410-9EBD-34B2-EB9B-CCD1AAE5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9D62667-9004-C1FD-541D-53EC54793018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F86164-EE7E-25D9-25CF-C3D129825D89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39BE65-C51A-737E-79C9-CB672386197E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4E1538-A4EE-4C4E-8064-82F21282A90A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A69A18-45B0-61B2-30B2-002800BB1977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FD9650-C064-4C3E-D881-6262058DC3AD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5F0EE86-BC9F-4D48-BF15-8D467F58A865}"/>
              </a:ext>
            </a:extLst>
          </p:cNvPr>
          <p:cNvSpPr txBox="1"/>
          <p:nvPr/>
        </p:nvSpPr>
        <p:spPr>
          <a:xfrm>
            <a:off x="990000" y="724971"/>
            <a:ext cx="69568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Replication: Posterior Distribution of Bayes Approach &amp; Model Averaging</a:t>
            </a:r>
            <a:endParaRPr lang="zh-TW" altLang="en-US" sz="3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AF9B22-6A50-DBC2-60AD-CA4EA3408FB8}"/>
              </a:ext>
            </a:extLst>
          </p:cNvPr>
          <p:cNvSpPr txBox="1"/>
          <p:nvPr/>
        </p:nvSpPr>
        <p:spPr>
          <a:xfrm>
            <a:off x="1035224" y="1818798"/>
            <a:ext cx="383205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means model:</a:t>
            </a:r>
          </a:p>
          <a:p>
            <a:pPr algn="just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posterior parameters of the different means model are not described in the paper, we derive them assuming a single sample for simplicity.</a:t>
            </a:r>
          </a:p>
          <a:p>
            <a:pPr algn="just"/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means model: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Gibbs sampling to generate posterior draws.</a:t>
            </a:r>
            <a:endParaRPr lang="zh-TW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TW" altLang="en-US" sz="2000" b="1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E0EA7F2-1C78-4A4E-3294-C415B7E87D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3"/>
          <a:stretch>
            <a:fillRect/>
          </a:stretch>
        </p:blipFill>
        <p:spPr bwMode="auto">
          <a:xfrm>
            <a:off x="4933950" y="1802189"/>
            <a:ext cx="7096123" cy="49320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464AF21-6619-EF18-81C5-EFD3F173D5E3}"/>
              </a:ext>
            </a:extLst>
          </p:cNvPr>
          <p:cNvSpPr/>
          <p:nvPr/>
        </p:nvSpPr>
        <p:spPr>
          <a:xfrm>
            <a:off x="8162925" y="4789161"/>
            <a:ext cx="1828800" cy="38291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FF898EE-7803-DEC2-2BB3-32C62B7651CF}"/>
              </a:ext>
            </a:extLst>
          </p:cNvPr>
          <p:cNvSpPr/>
          <p:nvPr/>
        </p:nvSpPr>
        <p:spPr>
          <a:xfrm>
            <a:off x="5124450" y="6238930"/>
            <a:ext cx="2981325" cy="4953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802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664C-D694-9E2F-EE6D-5368D81DA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B321C9-B1B3-D366-4367-3C5A0A17007C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29AB9D-8804-3DE7-C374-4F6E1E978E33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4CAE54-2CDA-2A12-A41D-0142D8AF812C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A860DB-6C39-0AFD-98D9-74757941C2A2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52DDA0-3CA5-20F9-2FF4-50DFA37F30C2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9CA971-052F-4A68-AD61-32AFB941C7B1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180C9EB-9D08-92DE-F210-75B52F500FBB}"/>
              </a:ext>
            </a:extLst>
          </p:cNvPr>
          <p:cNvSpPr txBox="1"/>
          <p:nvPr/>
        </p:nvSpPr>
        <p:spPr>
          <a:xfrm>
            <a:off x="380998" y="871230"/>
            <a:ext cx="6956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Structure of our code</a:t>
            </a:r>
            <a:endParaRPr lang="zh-TW" altLang="en-US" sz="32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7B262E7-DEA6-6C4C-D15E-6636C2D70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8" y="1456009"/>
            <a:ext cx="11430000" cy="475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39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1269-73E1-A5F7-BF53-7498411F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35635C6-A0FE-3146-8C55-C5D3F2DA2F2D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0820D7-CDD9-7CD1-826C-A6EC0B3C1FFD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774CC9-7697-EB03-C314-292CE6F9AA12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75C1B4-27B2-3ADA-CBB6-A520D0FBDE5D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2A4DB8-6E4C-D9DF-F00B-A5B062FB696A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DB07A4-68DB-EFD8-EDEB-6CBA5674097D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1791878-8076-81A5-C142-138C5D4AACF5}"/>
              </a:ext>
            </a:extLst>
          </p:cNvPr>
          <p:cNvSpPr txBox="1"/>
          <p:nvPr/>
        </p:nvSpPr>
        <p:spPr>
          <a:xfrm>
            <a:off x="400048" y="661680"/>
            <a:ext cx="11249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(Original Paper Results / Our Results):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4418A2-A38E-6E22-3BBA-9E06BA1D8C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0274309"/>
                  </p:ext>
                </p:extLst>
              </p:nvPr>
            </p:nvGraphicFramePr>
            <p:xfrm>
              <a:off x="1227523" y="1329704"/>
              <a:ext cx="9756000" cy="451936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65099">
                      <a:extLst>
                        <a:ext uri="{9D8B030D-6E8A-4147-A177-3AD203B41FA5}">
                          <a16:colId xmlns:a16="http://schemas.microsoft.com/office/drawing/2014/main" val="204620953"/>
                        </a:ext>
                      </a:extLst>
                    </a:gridCol>
                    <a:gridCol w="1809124">
                      <a:extLst>
                        <a:ext uri="{9D8B030D-6E8A-4147-A177-3AD203B41FA5}">
                          <a16:colId xmlns:a16="http://schemas.microsoft.com/office/drawing/2014/main" val="3546597700"/>
                        </a:ext>
                      </a:extLst>
                    </a:gridCol>
                    <a:gridCol w="1693980">
                      <a:extLst>
                        <a:ext uri="{9D8B030D-6E8A-4147-A177-3AD203B41FA5}">
                          <a16:colId xmlns:a16="http://schemas.microsoft.com/office/drawing/2014/main" val="3143462514"/>
                        </a:ext>
                      </a:extLst>
                    </a:gridCol>
                    <a:gridCol w="1693980">
                      <a:extLst>
                        <a:ext uri="{9D8B030D-6E8A-4147-A177-3AD203B41FA5}">
                          <a16:colId xmlns:a16="http://schemas.microsoft.com/office/drawing/2014/main" val="513324504"/>
                        </a:ext>
                      </a:extLst>
                    </a:gridCol>
                    <a:gridCol w="1693980">
                      <a:extLst>
                        <a:ext uri="{9D8B030D-6E8A-4147-A177-3AD203B41FA5}">
                          <a16:colId xmlns:a16="http://schemas.microsoft.com/office/drawing/2014/main" val="3457292276"/>
                        </a:ext>
                      </a:extLst>
                    </a:gridCol>
                    <a:gridCol w="1699837">
                      <a:extLst>
                        <a:ext uri="{9D8B030D-6E8A-4147-A177-3AD203B41FA5}">
                          <a16:colId xmlns:a16="http://schemas.microsoft.com/office/drawing/2014/main" val="2990054263"/>
                        </a:ext>
                      </a:extLst>
                    </a:gridCol>
                  </a:tblGrid>
                  <a:tr h="38253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Method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Bias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RMSE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Coverage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Expected Len.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Actual Len.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26885"/>
                      </a:ext>
                    </a:extLst>
                  </a:tr>
                  <a:tr h="471172">
                    <a:tc gridSpan="6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 4: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s-ES" sz="20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=0.3,</m:t>
                              </m:r>
                              <m:sSubSup>
                                <m:sSubSupPr>
                                  <m:ctrlPr>
                                    <a:rPr lang="zh-TW" sz="20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es-ES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ES" sz="20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s-E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. </a:t>
                          </a: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 </a:t>
                          </a: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= </a:t>
                          </a: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6220112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Na_min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0.004 / 0.004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0.061 / 0.062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0.948 / 0.936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0.242 / 0.245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0.246 / 0.247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0575989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Na_pool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0.151 / 0.152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0.158 / 0.158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0.084 / 0.072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0.169 / 0.169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0.177 / 0.178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7464205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0.008 / 0.010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0.072 / 0.074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0.912 / 0.884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0.285 / 0.289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0.244 / 0.242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7095049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B50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-0.002 / 0.004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0.061 / 0.063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0.960 / 0.938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0.240 / 0.245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0.248 / 0.249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8063233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B75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-0.001 / 0.005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0.062 / 0.064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0.950 / 0.944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0.245 / 0.251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0.247 / 0.248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32654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B90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0.001 / 0.007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0.066 / 0.068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0.926 / 0.922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0.266 / 0.266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0.244 / 0.246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5139341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B95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0.004 / 0.010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0.071 / 0.074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0.902 / 0.884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0.282 / 0.287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0.242 / 0.242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8955555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MA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0.044 / 0.049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0.096 / 0.010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0.818 / 0.820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0.310 / 0.341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0.276 / 0.279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3033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84418A2-A38E-6E22-3BBA-9E06BA1D8C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0274309"/>
                  </p:ext>
                </p:extLst>
              </p:nvPr>
            </p:nvGraphicFramePr>
            <p:xfrm>
              <a:off x="1227523" y="1329704"/>
              <a:ext cx="9756000" cy="451936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65099">
                      <a:extLst>
                        <a:ext uri="{9D8B030D-6E8A-4147-A177-3AD203B41FA5}">
                          <a16:colId xmlns:a16="http://schemas.microsoft.com/office/drawing/2014/main" val="204620953"/>
                        </a:ext>
                      </a:extLst>
                    </a:gridCol>
                    <a:gridCol w="1809124">
                      <a:extLst>
                        <a:ext uri="{9D8B030D-6E8A-4147-A177-3AD203B41FA5}">
                          <a16:colId xmlns:a16="http://schemas.microsoft.com/office/drawing/2014/main" val="3546597700"/>
                        </a:ext>
                      </a:extLst>
                    </a:gridCol>
                    <a:gridCol w="1693980">
                      <a:extLst>
                        <a:ext uri="{9D8B030D-6E8A-4147-A177-3AD203B41FA5}">
                          <a16:colId xmlns:a16="http://schemas.microsoft.com/office/drawing/2014/main" val="3143462514"/>
                        </a:ext>
                      </a:extLst>
                    </a:gridCol>
                    <a:gridCol w="1693980">
                      <a:extLst>
                        <a:ext uri="{9D8B030D-6E8A-4147-A177-3AD203B41FA5}">
                          <a16:colId xmlns:a16="http://schemas.microsoft.com/office/drawing/2014/main" val="513324504"/>
                        </a:ext>
                      </a:extLst>
                    </a:gridCol>
                    <a:gridCol w="1693980">
                      <a:extLst>
                        <a:ext uri="{9D8B030D-6E8A-4147-A177-3AD203B41FA5}">
                          <a16:colId xmlns:a16="http://schemas.microsoft.com/office/drawing/2014/main" val="3457292276"/>
                        </a:ext>
                      </a:extLst>
                    </a:gridCol>
                    <a:gridCol w="1699837">
                      <a:extLst>
                        <a:ext uri="{9D8B030D-6E8A-4147-A177-3AD203B41FA5}">
                          <a16:colId xmlns:a16="http://schemas.microsoft.com/office/drawing/2014/main" val="2990054263"/>
                        </a:ext>
                      </a:extLst>
                    </a:gridCol>
                  </a:tblGrid>
                  <a:tr h="38253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Method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Bias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RMSE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Coverage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Expected Len.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s-ES" sz="18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Actual Len.</a:t>
                          </a:r>
                          <a:endParaRPr lang="zh-TW" sz="18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26885"/>
                      </a:ext>
                    </a:extLst>
                  </a:tr>
                  <a:tr h="471172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" t="-85714" r="-125" b="-8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6220112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Na_min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0.004 / 0.004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0.061 / 0.062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0.948 / 0.936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0.242 / 0.245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0.246 / 0.247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0575989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Na_pool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0.151 / 0.152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0.158 / 0.158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0.084 / 0.072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0.169 / 0.169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0.177 / 0.178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7464205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Te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0.008 / 0.010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0.072 / 0.074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0.912 / 0.884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0.285 / 0.289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0.244 / 0.242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7095049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B50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-0.002 / 0.004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0.061 / 0.063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0.960 / 0.938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0.240 / 0.245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0.248 / 0.249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8063233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B75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-0.001 / 0.005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0.062 / 0.064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0.950 / 0.944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0.245 / 0.251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0.247 / 0.248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32654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B90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0.001 / 0.007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0.066 / 0.068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0.926 / 0.922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0.266 / 0.266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0.244 / 0.246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5139341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B95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0.004 / 0.010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0.071 / 0.074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0.902 / 0.884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0.282 / 0.287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0.242 / 0.242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8955555"/>
                      </a:ext>
                    </a:extLst>
                  </a:tr>
                  <a:tr h="45820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MA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0.044 / 0.049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0.096 / 0.010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0.818 / 0.820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0.310 / 0.341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a:t>0.276 / 0.279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53" marR="6855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33033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ADD5E155-D69B-422C-D0C5-F4BCBBE2BDAA}"/>
              </a:ext>
            </a:extLst>
          </p:cNvPr>
          <p:cNvSpPr txBox="1"/>
          <p:nvPr/>
        </p:nvSpPr>
        <p:spPr>
          <a:xfrm>
            <a:off x="2241945" y="5875889"/>
            <a:ext cx="7708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Model performance in different scenarios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6748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2B5E-F024-5A3E-BCF1-CCEC28FA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C63E647-74D3-7491-698A-D67BDEF2E57D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83872D-2AEF-52B7-BD54-9ECC74C09AA5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8A49DC-02D7-6982-C6CD-CCDC0777695F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7F943B-5D9C-7935-085C-5C2B4672A9C5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BE6CF5-39D4-1970-7922-F023DB4061D5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3387B2-5575-4456-5529-AC44C9466C78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98115AC-4A82-9A40-02A6-4ACFB979EFD6}"/>
              </a:ext>
            </a:extLst>
          </p:cNvPr>
          <p:cNvSpPr txBox="1"/>
          <p:nvPr/>
        </p:nvSpPr>
        <p:spPr>
          <a:xfrm>
            <a:off x="380998" y="699780"/>
            <a:ext cx="11249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(Original Paper Results / Our Results):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A81DD32-F369-9AD2-76A3-1B901B3400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4287771"/>
                  </p:ext>
                </p:extLst>
              </p:nvPr>
            </p:nvGraphicFramePr>
            <p:xfrm>
              <a:off x="838197" y="1484580"/>
              <a:ext cx="10515601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32564">
                      <a:extLst>
                        <a:ext uri="{9D8B030D-6E8A-4147-A177-3AD203B41FA5}">
                          <a16:colId xmlns:a16="http://schemas.microsoft.com/office/drawing/2014/main" val="2029550271"/>
                        </a:ext>
                      </a:extLst>
                    </a:gridCol>
                    <a:gridCol w="1316553">
                      <a:extLst>
                        <a:ext uri="{9D8B030D-6E8A-4147-A177-3AD203B41FA5}">
                          <a16:colId xmlns:a16="http://schemas.microsoft.com/office/drawing/2014/main" val="3705548503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192323355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2925101292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652402464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2445596957"/>
                        </a:ext>
                      </a:extLst>
                    </a:gridCol>
                  </a:tblGrid>
                  <a:tr h="16414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1198407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0.044 / 0.052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0.046 / 0.052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0.910 / 0.896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0624820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0.058 / 0.056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0.942 / 0.944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3541640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0.764 / 0.802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0.236 / 0.198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334285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0.052 / 0.050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0.004 / 0.006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0.874 / 0.854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0.070 / 0.090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9967722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0.994 / 0.994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0.006 / 0.006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0652483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0.054 / 0.044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0.946 / 0.956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909611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 / 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5497660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0.034 / 0.040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0.966 / 0.960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912957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 / 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92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A81DD32-F369-9AD2-76A3-1B901B3400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4287771"/>
                  </p:ext>
                </p:extLst>
              </p:nvPr>
            </p:nvGraphicFramePr>
            <p:xfrm>
              <a:off x="838197" y="1484580"/>
              <a:ext cx="10515601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32564">
                      <a:extLst>
                        <a:ext uri="{9D8B030D-6E8A-4147-A177-3AD203B41FA5}">
                          <a16:colId xmlns:a16="http://schemas.microsoft.com/office/drawing/2014/main" val="2029550271"/>
                        </a:ext>
                      </a:extLst>
                    </a:gridCol>
                    <a:gridCol w="1316553">
                      <a:extLst>
                        <a:ext uri="{9D8B030D-6E8A-4147-A177-3AD203B41FA5}">
                          <a16:colId xmlns:a16="http://schemas.microsoft.com/office/drawing/2014/main" val="3705548503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192323355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2925101292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652402464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2445596957"/>
                        </a:ext>
                      </a:extLst>
                    </a:gridCol>
                  </a:tblGrid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1198407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82895" r="-393714" b="-8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0.044 / 0.052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0.046 / 0.052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0.910 / 0.896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062482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180519" r="-393714" b="-7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0.058 / 0.056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0.942 / 0.944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354164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280519" r="-393714" b="-6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0.764 / 0.802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0.236 / 0.198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33428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385526" r="-393714" b="-5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0.052 / 0.050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0.004 / 0.006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0.874 / 0.854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0.070 / 0.090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9967722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479221" r="-393714" b="-4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0.994 / 0.994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0.006 / 0.006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0652483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586842" r="-393714" b="-319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0.054 / 0.044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0.946 / 0.956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90961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677922" r="-393714" b="-2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 / 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549766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788158" r="-393714" b="-1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0.034 / 0.040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0.966 / 0.960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912957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876623" r="-393714" b="-16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 dirty="0">
                            <a:effectLst/>
                            <a:latin typeface="Times New Roman" panose="020206030504050203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1.000 / 1.000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923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B3359889-9FB9-DFED-24F4-E289FB1906BB}"/>
              </a:ext>
            </a:extLst>
          </p:cNvPr>
          <p:cNvSpPr txBox="1"/>
          <p:nvPr/>
        </p:nvSpPr>
        <p:spPr>
          <a:xfrm>
            <a:off x="1637108" y="6011801"/>
            <a:ext cx="873680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Model selection proportion of </a:t>
            </a:r>
            <a:r>
              <a:rPr lang="en-US" altLang="zh-TW" sz="1800" kern="100" dirty="0" err="1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Testimator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511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BE2A7-6138-4F48-5E0C-F225281F0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6C66AF5-AF86-7926-7473-266FA8346040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76D489-C89E-B9DA-DC3B-408C24B60F38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AA1A61-6490-490C-F9B8-2E6C797E9930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0A99E7-9E13-B4C7-32E7-CA706EEAEA27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27FEDF-F74F-CB26-DB48-C287D211614D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CB8168-9669-DC7A-43B1-09749F8BF76F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84E4523-E45A-DDEF-4AA0-A6AB61DBF9AB}"/>
              </a:ext>
            </a:extLst>
          </p:cNvPr>
          <p:cNvSpPr txBox="1"/>
          <p:nvPr/>
        </p:nvSpPr>
        <p:spPr>
          <a:xfrm>
            <a:off x="380998" y="699780"/>
            <a:ext cx="11249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(Original Paper Results / Our Results):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C94073B7-E1C6-DC9E-C1FB-FE838AC0A0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7271281"/>
                  </p:ext>
                </p:extLst>
              </p:nvPr>
            </p:nvGraphicFramePr>
            <p:xfrm>
              <a:off x="838197" y="1484580"/>
              <a:ext cx="10515601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32564">
                      <a:extLst>
                        <a:ext uri="{9D8B030D-6E8A-4147-A177-3AD203B41FA5}">
                          <a16:colId xmlns:a16="http://schemas.microsoft.com/office/drawing/2014/main" val="2029550271"/>
                        </a:ext>
                      </a:extLst>
                    </a:gridCol>
                    <a:gridCol w="1316553">
                      <a:extLst>
                        <a:ext uri="{9D8B030D-6E8A-4147-A177-3AD203B41FA5}">
                          <a16:colId xmlns:a16="http://schemas.microsoft.com/office/drawing/2014/main" val="3705548503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192323355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2925101292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652402464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2445596957"/>
                        </a:ext>
                      </a:extLst>
                    </a:gridCol>
                  </a:tblGrid>
                  <a:tr h="16414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1198407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0.022 / 0.020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0.977 / 0.979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0624820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0.018 / 0.019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0.911 / 0.912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 / 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0.070 / 0.068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3541640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0.345 / 0.366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0.576 / 0.556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0.028 / 0.031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0.051 / 0.047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334285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=0.3,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0.595 / 0.594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0.404 / 0.404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9967722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0.830 / 0.809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0.079 / 0.092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0.081 / 0.090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0.010 / 0.009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0652483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0.989 / 0.983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0.009 / 0.016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909611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0.900 / 0.908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0.003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0.098 / 0.091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5497660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0.999 / 0.999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912957"/>
                      </a:ext>
                    </a:extLst>
                  </a:tr>
                  <a:tr h="283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=0.7,</m:t>
                                </m:r>
                                <m:sSubSup>
                                  <m:sSubSupPr>
                                    <m:ctrlPr>
                                      <a:rPr lang="zh-TW" sz="20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en-US" sz="20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新細明體" panose="02020500000000000000" pitchFamily="18" charset="-12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0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0.896 / 0.919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0.104 / 0.081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92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C94073B7-E1C6-DC9E-C1FB-FE838AC0A0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7271281"/>
                  </p:ext>
                </p:extLst>
              </p:nvPr>
            </p:nvGraphicFramePr>
            <p:xfrm>
              <a:off x="838197" y="1484580"/>
              <a:ext cx="10515601" cy="4522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32564">
                      <a:extLst>
                        <a:ext uri="{9D8B030D-6E8A-4147-A177-3AD203B41FA5}">
                          <a16:colId xmlns:a16="http://schemas.microsoft.com/office/drawing/2014/main" val="2029550271"/>
                        </a:ext>
                      </a:extLst>
                    </a:gridCol>
                    <a:gridCol w="1316553">
                      <a:extLst>
                        <a:ext uri="{9D8B030D-6E8A-4147-A177-3AD203B41FA5}">
                          <a16:colId xmlns:a16="http://schemas.microsoft.com/office/drawing/2014/main" val="3705548503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192323355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2925101292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652402464"/>
                        </a:ext>
                      </a:extLst>
                    </a:gridCol>
                    <a:gridCol w="1766621">
                      <a:extLst>
                        <a:ext uri="{9D8B030D-6E8A-4147-A177-3AD203B41FA5}">
                          <a16:colId xmlns:a16="http://schemas.microsoft.com/office/drawing/2014/main" val="2445596957"/>
                        </a:ext>
                      </a:extLst>
                    </a:gridCol>
                  </a:tblGrid>
                  <a:tr h="328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Scenario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Effect size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M1 (D–D)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M2 (S–D)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M3 (D–S)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M4 (S–S)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1198407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82895" r="-393714" b="-8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0.022 / 0.020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0.977 / 0.979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062482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180519" r="-393714" b="-7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0.018 / 0.019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0.911 / 0.912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 / 0.002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0.070 / 0.068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354164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280519" r="-393714" b="-612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0.240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0.345 / 0.366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0.576 / 0.556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0.028 / 0.031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0.051 / 0.047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334285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385526" r="-393714" b="-5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0.300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0.595 / 0.594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0.404 / 0.404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9967722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479221" r="-393714" b="-4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0.410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0.830 / 0.809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0.079 / 0.092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0.081 / 0.090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0.010 / 0.009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0652483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586842" r="-393714" b="-319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0.002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0.989 / 0.983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0.009 / 0.016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909611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677922" r="-393714" b="-2155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0.570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0.900 / 0.908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0.003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0.098 / 0.091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5497660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788158" r="-393714" b="-11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0.700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0.001 / 0.001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0.999 / 0.999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912957"/>
                      </a:ext>
                    </a:extLst>
                  </a:tr>
                  <a:tr h="46602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6" t="-876623" r="-393714" b="-168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0.810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b="1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0.896 / 0.919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0.104 / 0.081</a:t>
                          </a:r>
                          <a:endParaRPr lang="zh-TW" sz="20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20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a:t>0.000 / 0.000</a:t>
                          </a:r>
                          <a:endParaRPr lang="zh-TW" sz="2000" kern="100" dirty="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3923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450B9B3C-BBC0-D187-708F-D18C034141EB}"/>
              </a:ext>
            </a:extLst>
          </p:cNvPr>
          <p:cNvSpPr txBox="1"/>
          <p:nvPr/>
        </p:nvSpPr>
        <p:spPr>
          <a:xfrm>
            <a:off x="1637108" y="6082020"/>
            <a:ext cx="873680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Average model weights of Model Averaging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910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EBFE-E2F9-5AD9-4B7E-073C5E2B1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A034F7E-E065-8DFD-4FF7-E10338BBBBB5}"/>
              </a:ext>
            </a:extLst>
          </p:cNvPr>
          <p:cNvSpPr txBox="1"/>
          <p:nvPr/>
        </p:nvSpPr>
        <p:spPr>
          <a:xfrm>
            <a:off x="482010" y="713625"/>
            <a:ext cx="110180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Application: Arab Barometer Wave 6 Jordan Experiment</a:t>
            </a:r>
            <a:endParaRPr lang="zh-TW" altLang="en-US" sz="3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A97CA9E-831C-17A4-1817-BB42FB402914}"/>
              </a:ext>
            </a:extLst>
          </p:cNvPr>
          <p:cNvSpPr txBox="1"/>
          <p:nvPr/>
        </p:nvSpPr>
        <p:spPr>
          <a:xfrm>
            <a:off x="774690" y="1448011"/>
            <a:ext cx="41957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TW" sz="24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2,531 respondents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FTF: 1,193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FTF(5 mins) + TEL: 1,338</a:t>
            </a:r>
            <a:endParaRPr lang="zh-TW" altLang="en-US" sz="2400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F17428E3-68E3-E8F9-3797-C1E229CDE681}"/>
              </a:ext>
            </a:extLst>
          </p:cNvPr>
          <p:cNvGrpSpPr/>
          <p:nvPr/>
        </p:nvGrpSpPr>
        <p:grpSpPr>
          <a:xfrm>
            <a:off x="798990" y="2731013"/>
            <a:ext cx="8026920" cy="2496389"/>
            <a:chOff x="1450670" y="2692913"/>
            <a:chExt cx="8026920" cy="2496389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C237A09F-1843-C7AD-252E-7AE261425C95}"/>
                </a:ext>
              </a:extLst>
            </p:cNvPr>
            <p:cNvSpPr txBox="1"/>
            <p:nvPr/>
          </p:nvSpPr>
          <p:spPr>
            <a:xfrm>
              <a:off x="1450670" y="2692913"/>
              <a:ext cx="6110286" cy="24963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(a) security performance</a:t>
              </a:r>
              <a:endPara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  <a:p>
              <a:pPr algn="just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(b) keeping prices down</a:t>
              </a:r>
              <a:endPara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  <a:p>
              <a:pPr algn="just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(c) response to COVID-19</a:t>
              </a:r>
              <a:endPara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  <a:p>
              <a:pPr algn="just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(d) overall performance</a:t>
              </a:r>
              <a:endPara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  <a:p>
              <a:pPr algn="just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(e) education system</a:t>
              </a:r>
              <a:endPara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  <a:p>
              <a:pPr algn="just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(f) healthcare system</a:t>
              </a:r>
              <a:endPara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C62B49B-2A7B-67C0-2ED3-6A8C7AA7F3E0}"/>
                </a:ext>
              </a:extLst>
            </p:cNvPr>
            <p:cNvSpPr txBox="1"/>
            <p:nvPr/>
          </p:nvSpPr>
          <p:spPr>
            <a:xfrm>
              <a:off x="4141209" y="2839360"/>
              <a:ext cx="5336381" cy="811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0480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Cambria Math" panose="020405030504060302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1 = “Completely satisfied”, 2 = “Satisfied”</a:t>
              </a:r>
              <a:endPara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  <a:p>
              <a:pPr marL="30480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Cambria Math" panose="020405030504060302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3 = “Dissatisfied”, 4 = “Completely dissatisfied”</a:t>
              </a:r>
              <a:endPara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F78F60D1-6BBA-AC65-6457-C0679B0A8BA9}"/>
                </a:ext>
              </a:extLst>
            </p:cNvPr>
            <p:cNvSpPr txBox="1"/>
            <p:nvPr/>
          </p:nvSpPr>
          <p:spPr>
            <a:xfrm>
              <a:off x="4141209" y="4201007"/>
              <a:ext cx="3486207" cy="8115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0480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Cambria Math" panose="020405030504060302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1 = “Very good”, 2 = “Good”</a:t>
              </a:r>
            </a:p>
            <a:p>
              <a:pPr marL="304800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altLang="zh-TW" sz="1800" kern="100" dirty="0">
                  <a:effectLst/>
                  <a:latin typeface="Cambria Math" panose="020405030504060302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3 = “Bad”, 4 = “Very bad”</a:t>
              </a:r>
              <a:endPara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8EE117E-64B8-D994-4EDD-F0AE3AE20DE7}"/>
                  </a:ext>
                </a:extLst>
              </p:cNvPr>
              <p:cNvSpPr txBox="1"/>
              <p:nvPr/>
            </p:nvSpPr>
            <p:spPr>
              <a:xfrm>
                <a:off x="6975736" y="4822548"/>
                <a:ext cx="4524318" cy="11306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𝑔𝑜𝑣</m:t>
                      </m:r>
                      <m:r>
                        <m:rPr>
                          <m:lit/>
                        </m:rPr>
                        <a:rPr lang="zh-TW" altLang="en-US" sz="2400" i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𝑠𝑎𝑡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=25−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8EE117E-64B8-D994-4EDD-F0AE3AE20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736" y="4822548"/>
                <a:ext cx="4524318" cy="1130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右大括弧 27">
            <a:extLst>
              <a:ext uri="{FF2B5EF4-FFF2-40B4-BE49-F238E27FC236}">
                <a16:creationId xmlns:a16="http://schemas.microsoft.com/office/drawing/2014/main" id="{EDA06FC1-AA48-C2D6-2494-4C12CE24FEAE}"/>
              </a:ext>
            </a:extLst>
          </p:cNvPr>
          <p:cNvSpPr/>
          <p:nvPr/>
        </p:nvSpPr>
        <p:spPr>
          <a:xfrm>
            <a:off x="3581400" y="2877460"/>
            <a:ext cx="171450" cy="96111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右大括弧 28">
            <a:extLst>
              <a:ext uri="{FF2B5EF4-FFF2-40B4-BE49-F238E27FC236}">
                <a16:creationId xmlns:a16="http://schemas.microsoft.com/office/drawing/2014/main" id="{F61033CB-E4AC-3C3F-98A3-0EB2B369F772}"/>
              </a:ext>
            </a:extLst>
          </p:cNvPr>
          <p:cNvSpPr/>
          <p:nvPr/>
        </p:nvSpPr>
        <p:spPr>
          <a:xfrm>
            <a:off x="3594225" y="4178983"/>
            <a:ext cx="171450" cy="96111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B34CFE0-2BDE-443B-0E42-4146A624A776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B6AC6D1-5201-2F77-55F6-8952BBD2642D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3C66022-DE18-42E9-3E63-B84A35B7C9E4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F0DB758-036A-9542-D5F5-65F56A4FACE3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586B2A-5282-19D8-C8F2-5FC96E2F2420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9F1011-72B2-6998-4992-5632AA1B571D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066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21CD-BA6E-4EBB-E335-DD7D99666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743AC89-9D5B-4248-7F29-B2682D79F6F4}"/>
                  </a:ext>
                </a:extLst>
              </p:cNvPr>
              <p:cNvSpPr txBox="1"/>
              <p:nvPr/>
            </p:nvSpPr>
            <p:spPr>
              <a:xfrm>
                <a:off x="1083226" y="1525071"/>
                <a:ext cx="10337250" cy="3855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altLang="zh-TW" sz="28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C</a:t>
                </a:r>
                <a:r>
                  <a:rPr lang="en-US" altLang="zh-TW" sz="28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onsider two scenarios: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Smaller estimate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believed to be closer to the truth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The preferred direction is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unknown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as a sensitivity analysis.</a:t>
                </a:r>
              </a:p>
              <a:p>
                <a:pPr marL="514350" indent="-514350">
                  <a:buFontTx/>
                  <a:buAutoNum type="arabicPeriod"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Analysis process:</a:t>
                </a:r>
              </a:p>
              <a:p>
                <a:pPr marL="457200" indent="-457200">
                  <a:buAutoNum type="alphaLcParenBoth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Survey weights, weighted means, weighted variances, and sampling variances</a:t>
                </a:r>
              </a:p>
              <a:p>
                <a:pPr marL="457200" indent="-457200">
                  <a:buAutoNum type="alphaLcParenBoth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Design effect and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Effective sample size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FTF and TEL.</a:t>
                </a:r>
              </a:p>
              <a:p>
                <a:pPr marL="457200" indent="-457200">
                  <a:buAutoNum type="alphaLcParenBoth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effective sample size and the design-based statistics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as inputs</a:t>
                </a:r>
              </a:p>
              <a:p>
                <a:pPr marL="457200" indent="-457200">
                  <a:buAutoNum type="alphaLcParenBoth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the sampling variances for both modes using linearization, which approximates complex survey estimates with a Taylor expansion.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743AC89-9D5B-4248-7F29-B2682D79F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226" y="1525071"/>
                <a:ext cx="10337250" cy="3855543"/>
              </a:xfrm>
              <a:prstGeom prst="rect">
                <a:avLst/>
              </a:prstGeom>
              <a:blipFill>
                <a:blip r:embed="rId3"/>
                <a:stretch>
                  <a:fillRect l="-1062" t="-1580" b="-26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4CFA06EE-4949-F955-156F-DF7FFEFA10D5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54AACB-582D-8595-3CB9-D9852B5F5D7A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67AFC2-2054-9656-434D-6E44ADEDA16B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E6013A-D5BE-F3F4-F84E-ABCE487BA214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1D3FC8-AD60-0033-185D-91C4DBAC9934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799E4B-485C-A19B-B696-F0CD2E74E718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229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72373-63D4-1C32-DADF-12266079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DAA7CD9-9CFC-656F-8A78-EF7D5EAF24BC}"/>
              </a:ext>
            </a:extLst>
          </p:cNvPr>
          <p:cNvSpPr txBox="1"/>
          <p:nvPr/>
        </p:nvSpPr>
        <p:spPr>
          <a:xfrm>
            <a:off x="1254918" y="1534596"/>
            <a:ext cx="20407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Results</a:t>
            </a:r>
            <a:endParaRPr lang="zh-TW" altLang="en-US" sz="32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89403B1-A5FE-F7CC-86E5-22F468A39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24299"/>
              </p:ext>
            </p:extLst>
          </p:nvPr>
        </p:nvGraphicFramePr>
        <p:xfrm>
          <a:off x="1571625" y="2235214"/>
          <a:ext cx="9048750" cy="2798691"/>
        </p:xfrm>
        <a:graphic>
          <a:graphicData uri="http://schemas.openxmlformats.org/drawingml/2006/table">
            <a:tbl>
              <a:tblPr firstRow="1" firstCol="1" bandRow="1"/>
              <a:tblGrid>
                <a:gridCol w="3252772">
                  <a:extLst>
                    <a:ext uri="{9D8B030D-6E8A-4147-A177-3AD203B41FA5}">
                      <a16:colId xmlns:a16="http://schemas.microsoft.com/office/drawing/2014/main" val="1812538438"/>
                    </a:ext>
                  </a:extLst>
                </a:gridCol>
                <a:gridCol w="1697885">
                  <a:extLst>
                    <a:ext uri="{9D8B030D-6E8A-4147-A177-3AD203B41FA5}">
                      <a16:colId xmlns:a16="http://schemas.microsoft.com/office/drawing/2014/main" val="3231313833"/>
                    </a:ext>
                  </a:extLst>
                </a:gridCol>
                <a:gridCol w="2123261">
                  <a:extLst>
                    <a:ext uri="{9D8B030D-6E8A-4147-A177-3AD203B41FA5}">
                      <a16:colId xmlns:a16="http://schemas.microsoft.com/office/drawing/2014/main" val="712908831"/>
                    </a:ext>
                  </a:extLst>
                </a:gridCol>
                <a:gridCol w="1974832">
                  <a:extLst>
                    <a:ext uri="{9D8B030D-6E8A-4147-A177-3AD203B41FA5}">
                      <a16:colId xmlns:a16="http://schemas.microsoft.com/office/drawing/2014/main" val="2072196646"/>
                    </a:ext>
                  </a:extLst>
                </a:gridCol>
              </a:tblGrid>
              <a:tr h="3998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Method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Interval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Interval Len.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112174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Testimator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7.521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7.197, 7.844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0.647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342567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Bayesian (50%, 75%, 95%)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7.519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7.193, 7.849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0.656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425451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Model Averaging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7.521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7.197, 7.851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0.654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34723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Pool data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8.295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8.058, 8.531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0.473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514088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FTF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7.521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7.200, 7.841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0.642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225820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TEL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9.088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8.825, 9.351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0.526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590667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E98F01B7-1BDC-15EE-508A-CFB95266023C}"/>
              </a:ext>
            </a:extLst>
          </p:cNvPr>
          <p:cNvSpPr txBox="1"/>
          <p:nvPr/>
        </p:nvSpPr>
        <p:spPr>
          <a:xfrm>
            <a:off x="3008194" y="5035448"/>
            <a:ext cx="6110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Results when smaller estimates are preferred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870C57-BC80-B2A6-2E9F-46DDAA9E794D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AC5CB4-E58A-CBFB-D95D-0705849F1E67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042B0F-36D0-64FA-B00A-F017D664BAC5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980A33-6BB3-25C9-3E73-55DCBD93ABC1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E9A1AE-C0FE-50A4-61EE-1A8E72B2FB59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EA6F58-F4E2-EF51-1D56-255F748833DE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592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FD3EB-181E-04D1-150B-A3B72E64B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D9AC080-6400-783C-4003-913A9797F2CB}"/>
              </a:ext>
            </a:extLst>
          </p:cNvPr>
          <p:cNvSpPr txBox="1"/>
          <p:nvPr/>
        </p:nvSpPr>
        <p:spPr>
          <a:xfrm>
            <a:off x="1254918" y="1534596"/>
            <a:ext cx="20407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Results</a:t>
            </a:r>
            <a:endParaRPr lang="zh-TW" altLang="en-US" sz="32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33347BB-C370-24BB-9B3D-E961DD6E0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384888"/>
              </p:ext>
            </p:extLst>
          </p:nvPr>
        </p:nvGraphicFramePr>
        <p:xfrm>
          <a:off x="1571625" y="2235214"/>
          <a:ext cx="9048750" cy="2798691"/>
        </p:xfrm>
        <a:graphic>
          <a:graphicData uri="http://schemas.openxmlformats.org/drawingml/2006/table">
            <a:tbl>
              <a:tblPr firstRow="1" firstCol="1" bandRow="1"/>
              <a:tblGrid>
                <a:gridCol w="3252772">
                  <a:extLst>
                    <a:ext uri="{9D8B030D-6E8A-4147-A177-3AD203B41FA5}">
                      <a16:colId xmlns:a16="http://schemas.microsoft.com/office/drawing/2014/main" val="1812538438"/>
                    </a:ext>
                  </a:extLst>
                </a:gridCol>
                <a:gridCol w="1697885">
                  <a:extLst>
                    <a:ext uri="{9D8B030D-6E8A-4147-A177-3AD203B41FA5}">
                      <a16:colId xmlns:a16="http://schemas.microsoft.com/office/drawing/2014/main" val="3231313833"/>
                    </a:ext>
                  </a:extLst>
                </a:gridCol>
                <a:gridCol w="2123261">
                  <a:extLst>
                    <a:ext uri="{9D8B030D-6E8A-4147-A177-3AD203B41FA5}">
                      <a16:colId xmlns:a16="http://schemas.microsoft.com/office/drawing/2014/main" val="712908831"/>
                    </a:ext>
                  </a:extLst>
                </a:gridCol>
                <a:gridCol w="1974832">
                  <a:extLst>
                    <a:ext uri="{9D8B030D-6E8A-4147-A177-3AD203B41FA5}">
                      <a16:colId xmlns:a16="http://schemas.microsoft.com/office/drawing/2014/main" val="2072196646"/>
                    </a:ext>
                  </a:extLst>
                </a:gridCol>
              </a:tblGrid>
              <a:tr h="3998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Method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Estimate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Interval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Interval Len.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112174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Testimator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8.275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7.197, 9.352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2.155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342567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Bayesian (50%, 75%, 95%)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8.293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7.254, 9.307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2.053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425451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Model Averaging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8.297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7.246, 9.304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2.058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334723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Pool data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8.295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8.058, 8.531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0.473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514088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FTF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7.521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7.200, 7.841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0.642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225820"/>
                  </a:ext>
                </a:extLst>
              </a:tr>
              <a:tr h="3998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TEL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9.088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8.825, 9.351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0.526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590667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B968E80D-E1BC-98BF-7CFA-8B3CB9F15EFF}"/>
              </a:ext>
            </a:extLst>
          </p:cNvPr>
          <p:cNvSpPr txBox="1"/>
          <p:nvPr/>
        </p:nvSpPr>
        <p:spPr>
          <a:xfrm>
            <a:off x="3008194" y="5035448"/>
            <a:ext cx="6110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Results when there is no information about preferred direction</a:t>
            </a:r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EF0E11-3C50-07A5-F70D-DF1221E30AA8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333011-96E8-B46D-8627-C14CFE28E446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DA4D4E-C622-32D3-68E2-1DCA8D21DC42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D1D428-FE03-505A-B556-55B3461FF61A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ABD92A-AD6B-E66F-BFE0-C32CE9ED4F79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333A25-A177-8740-98AB-40DB3B7A0EA1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261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458C6-6F75-5814-3F11-D30BC2FE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30D893F-C85B-1558-3F7C-FB5038E4A628}"/>
              </a:ext>
            </a:extLst>
          </p:cNvPr>
          <p:cNvSpPr txBox="1"/>
          <p:nvPr/>
        </p:nvSpPr>
        <p:spPr>
          <a:xfrm>
            <a:off x="768735" y="1107548"/>
            <a:ext cx="5650979" cy="496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Core concepts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 err="1">
                <a:latin typeface="Times New Roman" panose="02020603050405020304" pitchFamily="18" charset="0"/>
                <a:ea typeface="新細明體" panose="02020500000000000000" pitchFamily="18" charset="-120"/>
              </a:rPr>
              <a:t>Testimator</a:t>
            </a:r>
            <a:endParaRPr lang="en-US" altLang="zh-TW" sz="2400" b="1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2 stage hypothesis testing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Bayesian Approach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CI of posterior effect size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Mode effect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Selects the model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Model Averaging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Combine 4 models through their posterior weights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Perform inference by averaging across models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D8C9011-DCDB-19A2-5E45-545EB0A39DAF}"/>
              </a:ext>
            </a:extLst>
          </p:cNvPr>
          <p:cNvSpPr txBox="1"/>
          <p:nvPr/>
        </p:nvSpPr>
        <p:spPr>
          <a:xfrm>
            <a:off x="6571978" y="1707713"/>
            <a:ext cx="5355704" cy="3299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Performance</a:t>
            </a:r>
            <a:endParaRPr lang="en-US" altLang="zh-TW" sz="20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All methods have limited sensitivity to small  mode effects when the sample size is small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All methods are more robust than the Naïve approaches.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Increasing the sample size improves performance for all methods.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35B283-53E1-5D20-4BE1-6D45A426DB6D}"/>
              </a:ext>
            </a:extLst>
          </p:cNvPr>
          <p:cNvSpPr/>
          <p:nvPr/>
        </p:nvSpPr>
        <p:spPr>
          <a:xfrm>
            <a:off x="0" y="0"/>
            <a:ext cx="1980000" cy="41909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3C4011-02D1-7746-DDF8-8FD36E299665}"/>
              </a:ext>
            </a:extLst>
          </p:cNvPr>
          <p:cNvSpPr/>
          <p:nvPr/>
        </p:nvSpPr>
        <p:spPr>
          <a:xfrm>
            <a:off x="1980000" y="-1"/>
            <a:ext cx="1980000" cy="419099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2021E9-D799-C8D0-9B95-AEB28A249E06}"/>
              </a:ext>
            </a:extLst>
          </p:cNvPr>
          <p:cNvSpPr/>
          <p:nvPr/>
        </p:nvSpPr>
        <p:spPr>
          <a:xfrm>
            <a:off x="3959999" y="-4"/>
            <a:ext cx="2135999" cy="4191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37E62D-B02D-4649-BD12-AFE9862E843A}"/>
              </a:ext>
            </a:extLst>
          </p:cNvPr>
          <p:cNvSpPr/>
          <p:nvPr/>
        </p:nvSpPr>
        <p:spPr>
          <a:xfrm>
            <a:off x="8232000" y="-4"/>
            <a:ext cx="1980000" cy="4191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955A12-79EF-7062-E252-D5BA42195E2F}"/>
              </a:ext>
            </a:extLst>
          </p:cNvPr>
          <p:cNvSpPr/>
          <p:nvPr/>
        </p:nvSpPr>
        <p:spPr>
          <a:xfrm>
            <a:off x="10212000" y="0"/>
            <a:ext cx="1980000" cy="41910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B31CD2-5DCA-16BE-6D76-FD1A6DE5EB90}"/>
              </a:ext>
            </a:extLst>
          </p:cNvPr>
          <p:cNvSpPr/>
          <p:nvPr/>
        </p:nvSpPr>
        <p:spPr>
          <a:xfrm>
            <a:off x="6096000" y="0"/>
            <a:ext cx="2136000" cy="4191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579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2290</Words>
  <Application>Microsoft Office PowerPoint</Application>
  <PresentationFormat>寬螢幕</PresentationFormat>
  <Paragraphs>802</Paragraphs>
  <Slides>24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ricki len</dc:creator>
  <cp:lastModifiedBy>ricki len</cp:lastModifiedBy>
  <cp:revision>7</cp:revision>
  <dcterms:created xsi:type="dcterms:W3CDTF">2025-12-11T10:40:41Z</dcterms:created>
  <dcterms:modified xsi:type="dcterms:W3CDTF">2025-12-15T06:20:06Z</dcterms:modified>
</cp:coreProperties>
</file>